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Complaints (lakh)</c:v>
                </c:pt>
              </c:strCache>
            </c:strRef>
          </c:tx>
          <c:invertIfNegative val="1"/>
          <c:dPt>
            <c:idx val="0"/>
            <c:invertIfNegative val="1"/>
            <c:bubble3D val="0"/>
            <c:spPr>
              <a:solidFill>
                <a:srgbClr val="4FA278"/>
              </a:solidFill>
            </c:spPr>
            <c:extLst>
              <c:ext xmlns:c16="http://schemas.microsoft.com/office/drawing/2014/chart" uri="{C3380CC4-5D6E-409C-BE32-E72D297353CC}">
                <c16:uniqueId val="{00000001-B51A-48E4-981A-A4EEAC1DDE72}"/>
              </c:ext>
            </c:extLst>
          </c:dPt>
          <c:dPt>
            <c:idx val="1"/>
            <c:invertIfNegative val="1"/>
            <c:bubble3D val="0"/>
            <c:spPr>
              <a:solidFill>
                <a:srgbClr val="4FA278"/>
              </a:solidFill>
            </c:spPr>
            <c:extLst>
              <c:ext xmlns:c16="http://schemas.microsoft.com/office/drawing/2014/chart" uri="{C3380CC4-5D6E-409C-BE32-E72D297353CC}">
                <c16:uniqueId val="{00000003-B51A-48E4-981A-A4EEAC1DDE72}"/>
              </c:ext>
            </c:extLst>
          </c:dPt>
          <c:dPt>
            <c:idx val="2"/>
            <c:invertIfNegative val="1"/>
            <c:bubble3D val="0"/>
            <c:spPr>
              <a:solidFill>
                <a:srgbClr val="026855"/>
              </a:solidFill>
            </c:spPr>
            <c:extLst>
              <c:ext xmlns:c16="http://schemas.microsoft.com/office/drawing/2014/chart" uri="{C3380CC4-5D6E-409C-BE32-E72D297353CC}">
                <c16:uniqueId val="{00000005-B51A-48E4-981A-A4EEAC1DDE72}"/>
              </c:ext>
            </c:extLst>
          </c:dPt>
          <c:dLbls>
            <c:numFmt formatCode="0.00" sourceLinked="0"/>
            <c:spPr>
              <a:noFill/>
              <a:ln>
                <a:noFill/>
              </a:ln>
              <a:effectLst/>
            </c:spPr>
            <c:txPr>
              <a:bodyPr/>
              <a:lstStyle/>
              <a:p>
                <a:pPr>
                  <a:defRPr sz="1100" b="1">
                    <a:solidFill>
                      <a:srgbClr val="0E2A2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2023</c:v>
                </c:pt>
                <c:pt idx="1">
                  <c:v>2024</c:v>
                </c:pt>
                <c:pt idx="2">
                  <c:v>2025</c:v>
                </c:pt>
              </c:strCache>
            </c:strRef>
          </c:cat>
          <c:val>
            <c:numRef>
              <c:f>Sheet1!$B$2:$B$4</c:f>
              <c:numCache>
                <c:formatCode>General</c:formatCode>
                <c:ptCount val="3"/>
                <c:pt idx="0">
                  <c:v>13.1</c:v>
                </c:pt>
                <c:pt idx="1">
                  <c:v>19.190000000000001</c:v>
                </c:pt>
                <c:pt idx="2">
                  <c:v>24.02</c:v>
                </c:pt>
              </c:numCache>
            </c:numRef>
          </c:val>
          <c:extLst>
            <c:ext xmlns:c16="http://schemas.microsoft.com/office/drawing/2014/chart" uri="{C3380CC4-5D6E-409C-BE32-E72D297353CC}">
              <c16:uniqueId val="{00000006-B51A-48E4-981A-A4EEAC1DDE72}"/>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3E6DD"/>
            </a:solidFill>
          </a:ln>
        </c:spPr>
        <c:txPr>
          <a:bodyPr/>
          <a:lstStyle/>
          <a:p>
            <a:pPr>
              <a:defRPr sz="1100">
                <a:solidFill>
                  <a:srgbClr val="0E2A2F"/>
                </a:solidFill>
              </a:defRPr>
            </a:pPr>
            <a:endParaRPr lang="en-US"/>
          </a:p>
        </c:txPr>
        <c:crossAx val="-2113994440"/>
        <c:crosses val="autoZero"/>
        <c:auto val="1"/>
        <c:lblAlgn val="ctr"/>
        <c:lblOffset val="100"/>
        <c:noMultiLvlLbl val="0"/>
      </c:catAx>
      <c:valAx>
        <c:axId val="-2113994440"/>
        <c:scaling>
          <c:orientation val="minMax"/>
          <c:max val="3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4982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Talking points: the people hurt most are first-time digital users, but students who lend their accounts are also part of the problem. Banks, NPCI, RBI and cyber police all need the same view of the chain, so everyone benefits if it is fixed.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Talking points: complaints keep rising every year. The current process only starts after the victim reports, then moves bank by bank, so the money is usually gone. Sources: MHA replies in Parliament (Feb and Aug 2026) and RBIH statements on rule-based checks.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Talking points: the core problem is visibility. Each bank has a real view of its own account, but the money crosses four banks in a few minutes. Nobody sees the whole path in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Talking points: be fair to MuleHunter.AI, it is a real and useful tool. Our idea adds the cross-bank chain view and a gentle, reversible response. Sources: RBIH, RBI officials (Aug 2025, Nov 2025), I4C and MHA.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Talking points: the prototype needs only laptops and open source tools. Real data cannot be shared, so we simulate it. In real use each bank trains locally and only masked signals travel.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Talking points: banks never share customer data, only masked IDs and risk scores. The response is gentle and reversible, a hold lasts only on the suspect chain and releases itself unless a reviewer confirms. The targets are goals for our simulation, replace them with measured numbers once the prototype runs.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chart" Target="../charts/chart1.xml"/><Relationship Id="rId10"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1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2.png"/><Relationship Id="rId7" Type="http://schemas.openxmlformats.org/officeDocument/2006/relationships/image" Target="../media/image10.png"/><Relationship Id="rId12"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5.png"/><Relationship Id="rId10" Type="http://schemas.openxmlformats.org/officeDocument/2006/relationships/image" Target="../media/image22.png"/><Relationship Id="rId4" Type="http://schemas.openxmlformats.org/officeDocument/2006/relationships/image" Target="../media/image3.png"/><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5" name="Cover Fields"/>
          <p:cNvSpPr txBox="1"/>
          <p:nvPr/>
        </p:nvSpPr>
        <p:spPr>
          <a:xfrm>
            <a:off x="548640" y="3703320"/>
            <a:ext cx="6035040"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 Dark Mod Devs</a:t>
            </a:r>
            <a:endParaRPr lang="en-US" sz="1800" dirty="0"/>
          </a:p>
          <a:p>
            <a:pPr marL="279400" indent="-279400">
              <a:spcAft>
                <a:spcPts val="1400"/>
              </a:spcAft>
              <a:buClr>
                <a:schemeClr val="accent3"/>
              </a:buClr>
              <a:buSzPct val="100000"/>
              <a:buFontTx/>
              <a:buChar char="•"/>
            </a:pPr>
            <a:r>
              <a:rPr lang="en-US" sz="1800" dirty="0">
                <a:solidFill>
                  <a:schemeClr val="bg1"/>
                </a:solidFill>
              </a:rPr>
              <a:t>Team Members – </a:t>
            </a:r>
            <a:r>
              <a:rPr lang="en-US" sz="1800" dirty="0" err="1">
                <a:solidFill>
                  <a:schemeClr val="bg1"/>
                </a:solidFill>
              </a:rPr>
              <a:t>Thiruvenkadesuwaran</a:t>
            </a:r>
            <a:r>
              <a:rPr lang="en-US" sz="1800" dirty="0">
                <a:solidFill>
                  <a:schemeClr val="bg1"/>
                </a:solidFill>
              </a:rPr>
              <a:t> S [</a:t>
            </a:r>
            <a:r>
              <a:rPr lang="en-IN" dirty="0">
                <a:solidFill>
                  <a:schemeClr val="bg1"/>
                </a:solidFill>
              </a:rPr>
              <a:t>CB.SC.U4CYS26162]</a:t>
            </a:r>
            <a:r>
              <a:rPr lang="en-US" sz="1800" dirty="0">
                <a:solidFill>
                  <a:schemeClr val="bg1"/>
                </a:solidFill>
              </a:rPr>
              <a:t>, K Prajit Raj [</a:t>
            </a:r>
            <a:r>
              <a:rPr lang="en-IN" dirty="0">
                <a:solidFill>
                  <a:schemeClr val="bg1"/>
                </a:solidFill>
              </a:rPr>
              <a:t>CB.SC.U4CYS26118]</a:t>
            </a:r>
            <a:r>
              <a:rPr lang="en-US" sz="1800" dirty="0">
                <a:solidFill>
                  <a:schemeClr val="bg1"/>
                </a:solidFill>
              </a:rPr>
              <a:t>, Nithin V [</a:t>
            </a:r>
            <a:r>
              <a:rPr lang="en-IN" dirty="0">
                <a:solidFill>
                  <a:schemeClr val="bg1"/>
                </a:solidFill>
              </a:rPr>
              <a:t>CB.SC.U4CYS26133]</a:t>
            </a:r>
            <a:r>
              <a:rPr lang="en-US" sz="1800" dirty="0">
                <a:solidFill>
                  <a:schemeClr val="bg1"/>
                </a:solidFill>
              </a:rPr>
              <a:t>, </a:t>
            </a:r>
            <a:r>
              <a:rPr lang="en-IN" dirty="0">
                <a:solidFill>
                  <a:schemeClr val="bg1"/>
                </a:solidFill>
              </a:rPr>
              <a:t>Senthil Yohan N [CB.SC.U4CYS26155]</a:t>
            </a:r>
            <a:endParaRPr lang="en-US" sz="1800" dirty="0"/>
          </a:p>
          <a:p>
            <a:pPr marL="279400" indent="-279400">
              <a:spcAft>
                <a:spcPts val="1400"/>
              </a:spcAft>
              <a:buClr>
                <a:schemeClr val="accent3"/>
              </a:buClr>
              <a:buSzPct val="100000"/>
              <a:buChar char="•"/>
            </a:pPr>
            <a:r>
              <a:rPr lang="en-US" sz="1800" dirty="0">
                <a:solidFill>
                  <a:schemeClr val="bg1"/>
                </a:solidFill>
              </a:rPr>
              <a:t>Selected Domain – 7</a:t>
            </a:r>
            <a:r>
              <a:rPr lang="en-US" sz="1800" baseline="30000" dirty="0">
                <a:solidFill>
                  <a:schemeClr val="bg1"/>
                </a:solidFill>
              </a:rPr>
              <a:t>TH</a:t>
            </a:r>
            <a:r>
              <a:rPr lang="en-US" sz="1800" dirty="0">
                <a:solidFill>
                  <a:schemeClr val="bg1"/>
                </a:solidFill>
              </a:rPr>
              <a:t> DOMAIN – Digital Technologies, AI &amp; Cyber Security</a:t>
            </a:r>
            <a:endParaRPr lang="en-US" sz="1800" dirty="0"/>
          </a:p>
          <a:p>
            <a:pPr marL="279400" indent="-279400">
              <a:spcAft>
                <a:spcPts val="1400"/>
              </a:spcAft>
              <a:buClr>
                <a:schemeClr val="accent3"/>
              </a:buClr>
              <a:buSzPct val="100000"/>
              <a:buChar char="•"/>
            </a:pPr>
            <a:r>
              <a:rPr lang="en-US" sz="1800" dirty="0">
                <a:solidFill>
                  <a:schemeClr val="bg1"/>
                </a:solidFill>
              </a:rPr>
              <a:t>Problem Statement – </a:t>
            </a:r>
            <a:r>
              <a:rPr lang="en-IN" dirty="0">
                <a:solidFill>
                  <a:schemeClr val="bg1"/>
                </a:solidFill>
              </a:rPr>
              <a:t>Detecting and Disrupting Mule-Account Networks Behind Digital Payment Fraud</a:t>
            </a:r>
            <a:endParaRPr lang="en-US" sz="18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Dark Mod Devs</a:t>
            </a:r>
            <a:endParaRPr lang="en-US" sz="900" dirty="0"/>
          </a:p>
        </p:txBody>
      </p:sp>
      <p:sp>
        <p:nvSpPr>
          <p:cNvPr id="10" name="Prompts"/>
          <p:cNvSpPr txBox="1"/>
          <p:nvPr/>
        </p:nvSpPr>
        <p:spPr>
          <a:xfrm>
            <a:off x="457200" y="1238250"/>
            <a:ext cx="10424160" cy="4394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exactly needs to be solved?</a:t>
            </a:r>
            <a:endParaRPr lang="en-US" sz="1800" dirty="0"/>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
        <p:nvSpPr>
          <p:cNvPr id="12" name="Prompts">
            <a:extLst>
              <a:ext uri="{FF2B5EF4-FFF2-40B4-BE49-F238E27FC236}">
                <a16:creationId xmlns:a16="http://schemas.microsoft.com/office/drawing/2014/main" id="{5C8CE112-3D58-063E-53FA-94316B2F1C0D}"/>
              </a:ext>
            </a:extLst>
          </p:cNvPr>
          <p:cNvSpPr txBox="1"/>
          <p:nvPr/>
        </p:nvSpPr>
        <p:spPr>
          <a:xfrm>
            <a:off x="457200" y="3889316"/>
            <a:ext cx="10424160" cy="395935"/>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Why is it important right now?</a:t>
            </a:r>
            <a:endParaRPr lang="en-US" sz="1800" dirty="0"/>
          </a:p>
        </p:txBody>
      </p:sp>
      <p:sp>
        <p:nvSpPr>
          <p:cNvPr id="16" name="TextBox 15">
            <a:extLst>
              <a:ext uri="{FF2B5EF4-FFF2-40B4-BE49-F238E27FC236}">
                <a16:creationId xmlns:a16="http://schemas.microsoft.com/office/drawing/2014/main" id="{B70EB0A5-F3B4-4785-D83C-3B5E7E98EE05}"/>
              </a:ext>
            </a:extLst>
          </p:cNvPr>
          <p:cNvSpPr txBox="1"/>
          <p:nvPr/>
        </p:nvSpPr>
        <p:spPr>
          <a:xfrm>
            <a:off x="918972" y="1560672"/>
            <a:ext cx="10328148" cy="2308324"/>
          </a:xfrm>
          <a:prstGeom prst="rect">
            <a:avLst/>
          </a:prstGeom>
          <a:noFill/>
        </p:spPr>
        <p:txBody>
          <a:bodyPr wrap="square">
            <a:spAutoFit/>
          </a:bodyPr>
          <a:lstStyle/>
          <a:p>
            <a:pPr marL="342900" lvl="0" indent="-342900" rtl="0">
              <a:buFont typeface="Arial" panose="020B0604020202020204" pitchFamily="34" charset="0"/>
              <a:buChar char="•"/>
            </a:pPr>
            <a:r>
              <a:rPr lang="en-IN" dirty="0"/>
              <a:t>When someone gets scammed on UPI, the money rarely stays in one account. It gets split and passed through a few ordinary people's accounts, and then it's withdrawn. This usually takes a few minutes.</a:t>
            </a:r>
          </a:p>
          <a:p>
            <a:pPr marL="342900" lvl="0" indent="-342900" rtl="0">
              <a:buFont typeface="Arial" panose="020B0604020202020204" pitchFamily="34" charset="0"/>
              <a:buChar char="•"/>
            </a:pPr>
            <a:r>
              <a:rPr lang="en-IN" dirty="0"/>
              <a:t>The accounts in the middle are called mule accounts. Many belong to people who were paid a small commission or didn't understand what they were doing.</a:t>
            </a:r>
          </a:p>
          <a:p>
            <a:pPr marL="342900" lvl="0" indent="-342900" rtl="0">
              <a:buFont typeface="Arial" panose="020B0604020202020204" pitchFamily="34" charset="0"/>
              <a:buChar char="•"/>
            </a:pPr>
            <a:r>
              <a:rPr lang="en-IN" dirty="0"/>
              <a:t>The problem is that every bank can only see its own account. Nobody sees the full path, so by the time the pieces get connected, the money is already gone.</a:t>
            </a:r>
          </a:p>
          <a:p>
            <a:pPr marL="342900" lvl="0" indent="-342900" rtl="0">
              <a:buFont typeface="Arial" panose="020B0604020202020204" pitchFamily="34" charset="0"/>
              <a:buChar char="•"/>
            </a:pPr>
            <a:r>
              <a:rPr lang="en-IN" dirty="0"/>
              <a:t>We want to connect those pieces across banks quickly, without banks handing over customer data, and stop the chain without blocking genuine users.</a:t>
            </a:r>
          </a:p>
        </p:txBody>
      </p:sp>
      <p:sp>
        <p:nvSpPr>
          <p:cNvPr id="18" name="TextBox 17">
            <a:extLst>
              <a:ext uri="{FF2B5EF4-FFF2-40B4-BE49-F238E27FC236}">
                <a16:creationId xmlns:a16="http://schemas.microsoft.com/office/drawing/2014/main" id="{C2DBCD87-298D-58CE-BCE2-E2F023290E26}"/>
              </a:ext>
            </a:extLst>
          </p:cNvPr>
          <p:cNvSpPr txBox="1"/>
          <p:nvPr/>
        </p:nvSpPr>
        <p:spPr>
          <a:xfrm>
            <a:off x="918972" y="4191418"/>
            <a:ext cx="10328147" cy="1754326"/>
          </a:xfrm>
          <a:prstGeom prst="rect">
            <a:avLst/>
          </a:prstGeom>
          <a:noFill/>
        </p:spPr>
        <p:txBody>
          <a:bodyPr wrap="square">
            <a:spAutoFit/>
          </a:bodyPr>
          <a:lstStyle/>
          <a:p>
            <a:pPr marL="342900" lvl="0" indent="-342900" rtl="0">
              <a:buFont typeface="Arial" panose="020B0604020202020204" pitchFamily="34" charset="0"/>
              <a:buChar char="•"/>
            </a:pPr>
            <a:r>
              <a:rPr lang="en-IN" dirty="0"/>
              <a:t>UPI is instant and can't be reversed. If you don't act in the first few minutes, you basically can't get the money back.</a:t>
            </a:r>
          </a:p>
          <a:p>
            <a:pPr marL="342900" lvl="0" indent="-342900" rtl="0">
              <a:buFont typeface="Arial" panose="020B0604020202020204" pitchFamily="34" charset="0"/>
              <a:buChar char="•"/>
            </a:pPr>
            <a:r>
              <a:rPr lang="en-IN" dirty="0"/>
              <a:t>A lot of fraud victims are first-time digital users like parents, grandparents and small shop owners, who lose their savings in one go.</a:t>
            </a:r>
          </a:p>
          <a:p>
            <a:pPr marL="342900" lvl="0" indent="-342900" rtl="0">
              <a:buFont typeface="Arial" panose="020B0604020202020204" pitchFamily="34" charset="0"/>
              <a:buChar char="•"/>
            </a:pPr>
            <a:r>
              <a:rPr lang="en-IN" dirty="0"/>
              <a:t>Freezing accounts carelessly is also a problem. A shopkeeper whose account gets frozen by mistake loses a day of income, so catching fraud isn't enough on its own. We have to be accurate too.</a:t>
            </a:r>
          </a:p>
        </p:txBody>
      </p:sp>
      <p:sp>
        <p:nvSpPr>
          <p:cNvPr id="20" name="TextBox 19">
            <a:extLst>
              <a:ext uri="{FF2B5EF4-FFF2-40B4-BE49-F238E27FC236}">
                <a16:creationId xmlns:a16="http://schemas.microsoft.com/office/drawing/2014/main" id="{E4D435C3-A3CF-5CAA-440F-EF72158E555A}"/>
              </a:ext>
            </a:extLst>
          </p:cNvPr>
          <p:cNvSpPr txBox="1"/>
          <p:nvPr/>
        </p:nvSpPr>
        <p:spPr>
          <a:xfrm>
            <a:off x="1229360" y="5945744"/>
            <a:ext cx="9825228" cy="369332"/>
          </a:xfrm>
          <a:prstGeom prst="rect">
            <a:avLst/>
          </a:prstGeom>
          <a:noFill/>
        </p:spPr>
        <p:txBody>
          <a:bodyPr wrap="square">
            <a:spAutoFit/>
          </a:bodyPr>
          <a:lstStyle/>
          <a:p>
            <a:r>
              <a:rPr lang="en-IN" dirty="0">
                <a:solidFill>
                  <a:srgbClr val="002060"/>
                </a:solidFill>
                <a:latin typeface="Bernard MT Condensed" panose="02050806060905020404" pitchFamily="18" charset="0"/>
              </a:rPr>
              <a:t>Fraud moves across banks in minutes, but protection stays inside each bank. We want to fix that gap.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r>
              <a:rPr lang="en-US" sz="900" b="1" kern="0" spc="300" dirty="0">
                <a:solidFill>
                  <a:schemeClr val="accent5"/>
                </a:solidFill>
              </a:rPr>
              <a:t>TEAM</a:t>
            </a:r>
            <a:endParaRPr lang="en-US" sz="900" dirty="0"/>
          </a:p>
          <a:p>
            <a:r>
              <a:rPr lang="en-US" sz="1500" b="1" dirty="0">
                <a:solidFill>
                  <a:schemeClr val="accent1"/>
                </a:solidFill>
              </a:rPr>
              <a:t>Dark Mod Devs</a:t>
            </a:r>
            <a:endParaRPr lang="en-US" sz="15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
        <p:nvSpPr>
          <p:cNvPr id="26" name="Card"/>
          <p:cNvSpPr/>
          <p:nvPr/>
        </p:nvSpPr>
        <p:spPr>
          <a:xfrm>
            <a:off x="457200" y="2057400"/>
            <a:ext cx="3605784" cy="3291840"/>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Icon circle"/>
          <p:cNvSpPr/>
          <p:nvPr/>
        </p:nvSpPr>
        <p:spPr>
          <a:xfrm>
            <a:off x="621792" y="2194560"/>
            <a:ext cx="502920" cy="502920"/>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FaUsers" descr="FaUsers_w.png"/>
          <p:cNvPicPr>
            <a:picLocks noChangeAspect="1"/>
          </p:cNvPicPr>
          <p:nvPr/>
        </p:nvPicPr>
        <p:blipFill>
          <a:blip r:embed="rId5"/>
          <a:stretch>
            <a:fillRect/>
          </a:stretch>
        </p:blipFill>
        <p:spPr>
          <a:xfrm>
            <a:off x="742492" y="2315260"/>
            <a:ext cx="261518" cy="261518"/>
          </a:xfrm>
          <a:prstGeom prst="rect">
            <a:avLst/>
          </a:prstGeom>
        </p:spPr>
      </p:pic>
      <p:sp>
        <p:nvSpPr>
          <p:cNvPr id="29" name="Card title"/>
          <p:cNvSpPr txBox="1"/>
          <p:nvPr/>
        </p:nvSpPr>
        <p:spPr>
          <a:xfrm>
            <a:off x="1261872" y="2167128"/>
            <a:ext cx="2691384" cy="566928"/>
          </a:xfrm>
          <a:prstGeom prst="rect">
            <a:avLst/>
          </a:prstGeom>
          <a:noFill/>
        </p:spPr>
        <p:txBody>
          <a:bodyPr wrap="square" lIns="0" tIns="0" rIns="0" bIns="0" anchor="ctr">
            <a:spAutoFit/>
          </a:bodyPr>
          <a:lstStyle/>
          <a:p>
            <a:pPr algn="l"/>
            <a:r>
              <a:rPr sz="1400" b="1" i="0">
                <a:solidFill>
                  <a:srgbClr val="094542"/>
                </a:solidFill>
              </a:rPr>
              <a:t>Primary users / target group</a:t>
            </a:r>
          </a:p>
        </p:txBody>
      </p:sp>
      <p:sp>
        <p:nvSpPr>
          <p:cNvPr id="30" name="Divider"/>
          <p:cNvSpPr/>
          <p:nvPr/>
        </p:nvSpPr>
        <p:spPr>
          <a:xfrm>
            <a:off x="640080" y="2880360"/>
            <a:ext cx="3240024" cy="18288"/>
          </a:xfrm>
          <a:prstGeom prst="rect">
            <a:avLst/>
          </a:prstGeom>
          <a:solidFill>
            <a:srgbClr val="D3E6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Bullets"/>
          <p:cNvSpPr txBox="1"/>
          <p:nvPr/>
        </p:nvSpPr>
        <p:spPr>
          <a:xfrm>
            <a:off x="685800" y="3063240"/>
            <a:ext cx="3148584" cy="2194560"/>
          </a:xfrm>
          <a:prstGeom prst="rect">
            <a:avLst/>
          </a:prstGeom>
          <a:noFill/>
        </p:spPr>
        <p:txBody>
          <a:bodyPr wrap="square" lIns="0" tIns="0" rIns="0" bIns="0">
            <a:spAutoFit/>
          </a:bodyPr>
          <a:lstStyle/>
          <a:p>
            <a:pPr marL="182880" indent="-182880">
              <a:spcAft>
                <a:spcPts val="900"/>
              </a:spcAft>
              <a:buClr>
                <a:srgbClr val="026855"/>
              </a:buClr>
              <a:buChar char="•"/>
            </a:pPr>
            <a:r>
              <a:rPr sz="1400" b="0" i="0">
                <a:solidFill>
                  <a:srgbClr val="0E2A2F"/>
                </a:solidFill>
              </a:rPr>
              <a:t>Everyday UPI users, especially first-time digital users like parents, grandparents, small shop owners and daily wage workers</a:t>
            </a:r>
          </a:p>
          <a:p>
            <a:pPr marL="182880" indent="-182880">
              <a:spcAft>
                <a:spcPts val="900"/>
              </a:spcAft>
              <a:buClr>
                <a:srgbClr val="026855"/>
              </a:buClr>
              <a:buChar char="•"/>
            </a:pPr>
            <a:r>
              <a:rPr sz="1400" b="0" i="0">
                <a:solidFill>
                  <a:srgbClr val="0E2A2F"/>
                </a:solidFill>
              </a:rPr>
              <a:t>Students and young people who get tempted to lend their account for easy commission</a:t>
            </a:r>
          </a:p>
          <a:p>
            <a:pPr marL="182880" indent="-182880">
              <a:spcAft>
                <a:spcPts val="900"/>
              </a:spcAft>
              <a:buClr>
                <a:srgbClr val="026855"/>
              </a:buClr>
              <a:buChar char="•"/>
            </a:pPr>
            <a:r>
              <a:rPr sz="1400" b="0" i="0">
                <a:solidFill>
                  <a:srgbClr val="0E2A2F"/>
                </a:solidFill>
              </a:rPr>
              <a:t>Bank fraud and risk teams who handle these cases</a:t>
            </a:r>
          </a:p>
        </p:txBody>
      </p:sp>
      <p:sp>
        <p:nvSpPr>
          <p:cNvPr id="32" name="Card"/>
          <p:cNvSpPr/>
          <p:nvPr/>
        </p:nvSpPr>
        <p:spPr>
          <a:xfrm>
            <a:off x="4291584" y="2057400"/>
            <a:ext cx="3605784" cy="3291840"/>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con circle"/>
          <p:cNvSpPr/>
          <p:nvPr/>
        </p:nvSpPr>
        <p:spPr>
          <a:xfrm>
            <a:off x="4456176" y="2194560"/>
            <a:ext cx="502920" cy="502920"/>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Icon FaUniversity" descr="FaUniversity_w.png"/>
          <p:cNvPicPr>
            <a:picLocks noChangeAspect="1"/>
          </p:cNvPicPr>
          <p:nvPr/>
        </p:nvPicPr>
        <p:blipFill>
          <a:blip r:embed="rId6"/>
          <a:stretch>
            <a:fillRect/>
          </a:stretch>
        </p:blipFill>
        <p:spPr>
          <a:xfrm>
            <a:off x="4576876" y="2315260"/>
            <a:ext cx="261518" cy="261518"/>
          </a:xfrm>
          <a:prstGeom prst="rect">
            <a:avLst/>
          </a:prstGeom>
        </p:spPr>
      </p:pic>
      <p:sp>
        <p:nvSpPr>
          <p:cNvPr id="35" name="Card title"/>
          <p:cNvSpPr txBox="1"/>
          <p:nvPr/>
        </p:nvSpPr>
        <p:spPr>
          <a:xfrm>
            <a:off x="5096256" y="2167128"/>
            <a:ext cx="2691384" cy="566928"/>
          </a:xfrm>
          <a:prstGeom prst="rect">
            <a:avLst/>
          </a:prstGeom>
          <a:noFill/>
        </p:spPr>
        <p:txBody>
          <a:bodyPr wrap="square" lIns="0" tIns="0" rIns="0" bIns="0" anchor="ctr">
            <a:spAutoFit/>
          </a:bodyPr>
          <a:lstStyle/>
          <a:p>
            <a:pPr algn="l"/>
            <a:r>
              <a:rPr sz="1400" b="1" i="0">
                <a:solidFill>
                  <a:srgbClr val="094542"/>
                </a:solidFill>
              </a:rPr>
              <a:t>Secondary stakeholders</a:t>
            </a:r>
          </a:p>
        </p:txBody>
      </p:sp>
      <p:sp>
        <p:nvSpPr>
          <p:cNvPr id="36" name="Divider"/>
          <p:cNvSpPr/>
          <p:nvPr/>
        </p:nvSpPr>
        <p:spPr>
          <a:xfrm>
            <a:off x="4474464" y="2880360"/>
            <a:ext cx="3240024" cy="18288"/>
          </a:xfrm>
          <a:prstGeom prst="rect">
            <a:avLst/>
          </a:prstGeom>
          <a:solidFill>
            <a:srgbClr val="D3E6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ullets"/>
          <p:cNvSpPr txBox="1"/>
          <p:nvPr/>
        </p:nvSpPr>
        <p:spPr>
          <a:xfrm>
            <a:off x="4520184" y="3063240"/>
            <a:ext cx="3148584" cy="2194560"/>
          </a:xfrm>
          <a:prstGeom prst="rect">
            <a:avLst/>
          </a:prstGeom>
          <a:noFill/>
        </p:spPr>
        <p:txBody>
          <a:bodyPr wrap="square" lIns="0" tIns="0" rIns="0" bIns="0">
            <a:spAutoFit/>
          </a:bodyPr>
          <a:lstStyle/>
          <a:p>
            <a:pPr marL="182880" indent="-182880">
              <a:spcAft>
                <a:spcPts val="900"/>
              </a:spcAft>
              <a:buClr>
                <a:srgbClr val="026855"/>
              </a:buClr>
              <a:buChar char="•"/>
            </a:pPr>
            <a:r>
              <a:rPr sz="1400" b="0" i="0">
                <a:solidFill>
                  <a:srgbClr val="0E2A2F"/>
                </a:solidFill>
              </a:rPr>
              <a:t>Banks and payment apps</a:t>
            </a:r>
          </a:p>
          <a:p>
            <a:pPr marL="182880" indent="-182880">
              <a:spcAft>
                <a:spcPts val="900"/>
              </a:spcAft>
              <a:buClr>
                <a:srgbClr val="026855"/>
              </a:buClr>
              <a:buChar char="•"/>
            </a:pPr>
            <a:r>
              <a:rPr sz="1400" b="0" i="0">
                <a:solidFill>
                  <a:srgbClr val="0E2A2F"/>
                </a:solidFill>
              </a:rPr>
              <a:t>NPCI and RBI</a:t>
            </a:r>
          </a:p>
          <a:p>
            <a:pPr marL="182880" indent="-182880">
              <a:spcAft>
                <a:spcPts val="900"/>
              </a:spcAft>
              <a:buClr>
                <a:srgbClr val="026855"/>
              </a:buClr>
              <a:buChar char="•"/>
            </a:pPr>
            <a:r>
              <a:rPr sz="1400" b="0" i="0">
                <a:solidFill>
                  <a:srgbClr val="0E2A2F"/>
                </a:solidFill>
              </a:rPr>
              <a:t>Cyber police and the 1930 helpline team</a:t>
            </a:r>
          </a:p>
          <a:p>
            <a:pPr marL="182880" indent="-182880">
              <a:spcAft>
                <a:spcPts val="900"/>
              </a:spcAft>
              <a:buClr>
                <a:srgbClr val="026855"/>
              </a:buClr>
              <a:buChar char="•"/>
            </a:pPr>
            <a:r>
              <a:rPr sz="1400" b="0" i="0">
                <a:solidFill>
                  <a:srgbClr val="0E2A2F"/>
                </a:solidFill>
              </a:rPr>
              <a:t>Genuine shopkeepers whose accounts might get frozen by mistake</a:t>
            </a:r>
          </a:p>
        </p:txBody>
      </p:sp>
      <p:sp>
        <p:nvSpPr>
          <p:cNvPr id="38" name="Card"/>
          <p:cNvSpPr/>
          <p:nvPr/>
        </p:nvSpPr>
        <p:spPr>
          <a:xfrm>
            <a:off x="8125968" y="2057400"/>
            <a:ext cx="3605784" cy="3291840"/>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Icon circle"/>
          <p:cNvSpPr/>
          <p:nvPr/>
        </p:nvSpPr>
        <p:spPr>
          <a:xfrm>
            <a:off x="8290560" y="2194560"/>
            <a:ext cx="502920" cy="502920"/>
          </a:xfrm>
          <a:prstGeom prst="ellipse">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Icon FaShieldAlt" descr="FaShieldAlt_w.png"/>
          <p:cNvPicPr>
            <a:picLocks noChangeAspect="1"/>
          </p:cNvPicPr>
          <p:nvPr/>
        </p:nvPicPr>
        <p:blipFill>
          <a:blip r:embed="rId7"/>
          <a:stretch>
            <a:fillRect/>
          </a:stretch>
        </p:blipFill>
        <p:spPr>
          <a:xfrm>
            <a:off x="8411260" y="2315260"/>
            <a:ext cx="261518" cy="261518"/>
          </a:xfrm>
          <a:prstGeom prst="rect">
            <a:avLst/>
          </a:prstGeom>
        </p:spPr>
      </p:pic>
      <p:sp>
        <p:nvSpPr>
          <p:cNvPr id="41" name="Card title"/>
          <p:cNvSpPr txBox="1"/>
          <p:nvPr/>
        </p:nvSpPr>
        <p:spPr>
          <a:xfrm>
            <a:off x="8930640" y="2167128"/>
            <a:ext cx="2691384" cy="566928"/>
          </a:xfrm>
          <a:prstGeom prst="rect">
            <a:avLst/>
          </a:prstGeom>
          <a:noFill/>
        </p:spPr>
        <p:txBody>
          <a:bodyPr wrap="square" lIns="0" tIns="0" rIns="0" bIns="0" anchor="ctr">
            <a:spAutoFit/>
          </a:bodyPr>
          <a:lstStyle/>
          <a:p>
            <a:pPr algn="l"/>
            <a:r>
              <a:rPr sz="1400" b="1" i="0">
                <a:solidFill>
                  <a:srgbClr val="094542"/>
                </a:solidFill>
              </a:rPr>
              <a:t>Who benefits if the problem is solved?</a:t>
            </a:r>
          </a:p>
        </p:txBody>
      </p:sp>
      <p:sp>
        <p:nvSpPr>
          <p:cNvPr id="42" name="Divider"/>
          <p:cNvSpPr/>
          <p:nvPr/>
        </p:nvSpPr>
        <p:spPr>
          <a:xfrm>
            <a:off x="8308847" y="2880360"/>
            <a:ext cx="3240024" cy="18288"/>
          </a:xfrm>
          <a:prstGeom prst="rect">
            <a:avLst/>
          </a:prstGeom>
          <a:solidFill>
            <a:srgbClr val="D3E6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Bullets"/>
          <p:cNvSpPr txBox="1"/>
          <p:nvPr/>
        </p:nvSpPr>
        <p:spPr>
          <a:xfrm>
            <a:off x="8354568" y="3063240"/>
            <a:ext cx="3148584" cy="2194560"/>
          </a:xfrm>
          <a:prstGeom prst="rect">
            <a:avLst/>
          </a:prstGeom>
          <a:noFill/>
        </p:spPr>
        <p:txBody>
          <a:bodyPr wrap="square" lIns="0" tIns="0" rIns="0" bIns="0">
            <a:spAutoFit/>
          </a:bodyPr>
          <a:lstStyle/>
          <a:p>
            <a:pPr marL="182880" indent="-182880">
              <a:spcAft>
                <a:spcPts val="900"/>
              </a:spcAft>
              <a:buClr>
                <a:srgbClr val="026855"/>
              </a:buClr>
              <a:buChar char="•"/>
            </a:pPr>
            <a:r>
              <a:rPr sz="1400" b="0" i="0">
                <a:solidFill>
                  <a:srgbClr val="0E2A2F"/>
                </a:solidFill>
              </a:rPr>
              <a:t>Victims keep their money</a:t>
            </a:r>
          </a:p>
          <a:p>
            <a:pPr marL="182880" indent="-182880">
              <a:spcAft>
                <a:spcPts val="900"/>
              </a:spcAft>
              <a:buClr>
                <a:srgbClr val="026855"/>
              </a:buClr>
              <a:buChar char="•"/>
            </a:pPr>
            <a:r>
              <a:rPr sz="1400" b="0" i="0">
                <a:solidFill>
                  <a:srgbClr val="0E2A2F"/>
                </a:solidFill>
              </a:rPr>
              <a:t>Honest users do not get blocked</a:t>
            </a:r>
          </a:p>
          <a:p>
            <a:pPr marL="182880" indent="-182880">
              <a:spcAft>
                <a:spcPts val="900"/>
              </a:spcAft>
              <a:buClr>
                <a:srgbClr val="026855"/>
              </a:buClr>
              <a:buChar char="•"/>
            </a:pPr>
            <a:r>
              <a:rPr sz="1400" b="0" i="0">
                <a:solidFill>
                  <a:srgbClr val="0E2A2F"/>
                </a:solidFill>
              </a:rPr>
              <a:t>Banks lose less and get fewer complaints</a:t>
            </a:r>
          </a:p>
          <a:p>
            <a:pPr marL="182880" indent="-182880">
              <a:spcAft>
                <a:spcPts val="900"/>
              </a:spcAft>
              <a:buClr>
                <a:srgbClr val="026855"/>
              </a:buClr>
              <a:buChar char="•"/>
            </a:pPr>
            <a:r>
              <a:rPr sz="1400" b="0" i="0">
                <a:solidFill>
                  <a:srgbClr val="0E2A2F"/>
                </a:solidFill>
              </a:rPr>
              <a:t>Police see the whole chain, not just pieces</a:t>
            </a:r>
          </a:p>
          <a:p>
            <a:pPr marL="182880" indent="-182880">
              <a:spcAft>
                <a:spcPts val="900"/>
              </a:spcAft>
              <a:buClr>
                <a:srgbClr val="026855"/>
              </a:buClr>
              <a:buChar char="•"/>
            </a:pPr>
            <a:r>
              <a:rPr sz="1400" b="0" i="0">
                <a:solidFill>
                  <a:srgbClr val="0E2A2F"/>
                </a:solidFill>
              </a:rPr>
              <a:t>People trust UPI more</a:t>
            </a:r>
          </a:p>
        </p:txBody>
      </p:sp>
      <p:sp>
        <p:nvSpPr>
          <p:cNvPr id="44" name="Takeaway strip"/>
          <p:cNvSpPr/>
          <p:nvPr/>
        </p:nvSpPr>
        <p:spPr>
          <a:xfrm>
            <a:off x="457200" y="5504688"/>
            <a:ext cx="11274552" cy="640080"/>
          </a:xfrm>
          <a:prstGeom prst="roundRect">
            <a:avLst>
              <a:gd name="adj" fmla="val 15000"/>
            </a:avLst>
          </a:prstGeom>
          <a:solidFill>
            <a:srgbClr val="094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Accent bar"/>
          <p:cNvSpPr/>
          <p:nvPr/>
        </p:nvSpPr>
        <p:spPr>
          <a:xfrm>
            <a:off x="457200" y="5614416"/>
            <a:ext cx="82296" cy="420624"/>
          </a:xfrm>
          <a:prstGeom prst="rect">
            <a:avLst/>
          </a:prstGeom>
          <a:solidFill>
            <a:srgbClr val="7AC1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akeaway"/>
          <p:cNvSpPr txBox="1"/>
          <p:nvPr/>
        </p:nvSpPr>
        <p:spPr>
          <a:xfrm>
            <a:off x="777240" y="5504688"/>
            <a:ext cx="10725912" cy="640080"/>
          </a:xfrm>
          <a:prstGeom prst="rect">
            <a:avLst/>
          </a:prstGeom>
          <a:noFill/>
        </p:spPr>
        <p:txBody>
          <a:bodyPr wrap="square" lIns="0" tIns="0" rIns="0" bIns="0" anchor="ctr">
            <a:spAutoFit/>
          </a:bodyPr>
          <a:lstStyle/>
          <a:p>
            <a:pPr algn="l"/>
            <a:r>
              <a:rPr sz="1500" b="1" i="0">
                <a:solidFill>
                  <a:srgbClr val="FFFFFF"/>
                </a:solidFill>
              </a:rPr>
              <a:t>Anyone with a UPI ID can be hit, but first-time digital users are the easiest targets.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a:solidFill>
                  <a:schemeClr val="accent1"/>
                </a:solidFill>
              </a:rPr>
              <a:t>Dark Mod Devs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
        <p:nvSpPr>
          <p:cNvPr id="26" name="Card"/>
          <p:cNvSpPr/>
          <p:nvPr/>
        </p:nvSpPr>
        <p:spPr>
          <a:xfrm>
            <a:off x="457200" y="2011680"/>
            <a:ext cx="4754880" cy="2148840"/>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ard title"/>
          <p:cNvSpPr txBox="1"/>
          <p:nvPr/>
        </p:nvSpPr>
        <p:spPr>
          <a:xfrm>
            <a:off x="685800" y="2139696"/>
            <a:ext cx="4297680" cy="274320"/>
          </a:xfrm>
          <a:prstGeom prst="rect">
            <a:avLst/>
          </a:prstGeom>
          <a:noFill/>
        </p:spPr>
        <p:txBody>
          <a:bodyPr wrap="square" lIns="0" tIns="0" rIns="0" bIns="0" anchor="t">
            <a:spAutoFit/>
          </a:bodyPr>
          <a:lstStyle/>
          <a:p>
            <a:pPr algn="l"/>
            <a:r>
              <a:rPr sz="1400" b="1" i="0">
                <a:solidFill>
                  <a:srgbClr val="094542"/>
                </a:solidFill>
              </a:rPr>
              <a:t>Existing scenario and background</a:t>
            </a:r>
          </a:p>
        </p:txBody>
      </p:sp>
      <p:sp>
        <p:nvSpPr>
          <p:cNvPr id="28" name="Bullets"/>
          <p:cNvSpPr txBox="1"/>
          <p:nvPr/>
        </p:nvSpPr>
        <p:spPr>
          <a:xfrm>
            <a:off x="685800" y="2514600"/>
            <a:ext cx="4297680" cy="960120"/>
          </a:xfrm>
          <a:prstGeom prst="rect">
            <a:avLst/>
          </a:prstGeom>
          <a:noFill/>
        </p:spPr>
        <p:txBody>
          <a:bodyPr wrap="square" lIns="0" tIns="0" rIns="0" bIns="0">
            <a:spAutoFit/>
          </a:bodyPr>
          <a:lstStyle/>
          <a:p>
            <a:pPr marL="182880" indent="-182880">
              <a:spcAft>
                <a:spcPts val="300"/>
              </a:spcAft>
              <a:buClr>
                <a:srgbClr val="026855"/>
              </a:buClr>
              <a:buChar char="•"/>
            </a:pPr>
            <a:r>
              <a:rPr sz="1150" b="0" i="0">
                <a:solidFill>
                  <a:srgbClr val="0E2A2F"/>
                </a:solidFill>
              </a:rPr>
              <a:t>UPI is instant and cannot be reversed, so money leaves fast</a:t>
            </a:r>
          </a:p>
          <a:p>
            <a:pPr marL="182880" indent="-182880">
              <a:spcAft>
                <a:spcPts val="300"/>
              </a:spcAft>
              <a:buClr>
                <a:srgbClr val="026855"/>
              </a:buClr>
              <a:buChar char="•"/>
            </a:pPr>
            <a:r>
              <a:rPr sz="1150" b="0" i="0">
                <a:solidFill>
                  <a:srgbClr val="0E2A2F"/>
                </a:solidFill>
              </a:rPr>
              <a:t>Money is split across several mule accounts, then withdrawn</a:t>
            </a:r>
          </a:p>
          <a:p>
            <a:pPr marL="182880" indent="-182880">
              <a:spcAft>
                <a:spcPts val="300"/>
              </a:spcAft>
              <a:buClr>
                <a:srgbClr val="026855"/>
              </a:buClr>
              <a:buChar char="•"/>
            </a:pPr>
            <a:r>
              <a:rPr sz="1150" b="0" i="0">
                <a:solidFill>
                  <a:srgbClr val="0E2A2F"/>
                </a:solidFill>
              </a:rPr>
              <a:t>RBI's innovation arm says fixed bank rules give many false alarms and take long</a:t>
            </a:r>
          </a:p>
        </p:txBody>
      </p:sp>
      <p:sp>
        <p:nvSpPr>
          <p:cNvPr id="29" name="Card"/>
          <p:cNvSpPr/>
          <p:nvPr/>
        </p:nvSpPr>
        <p:spPr>
          <a:xfrm>
            <a:off x="5394960" y="2011680"/>
            <a:ext cx="6336792" cy="2148840"/>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Card title"/>
          <p:cNvSpPr txBox="1"/>
          <p:nvPr/>
        </p:nvSpPr>
        <p:spPr>
          <a:xfrm>
            <a:off x="5623560" y="2139696"/>
            <a:ext cx="4572000" cy="274320"/>
          </a:xfrm>
          <a:prstGeom prst="rect">
            <a:avLst/>
          </a:prstGeom>
          <a:noFill/>
        </p:spPr>
        <p:txBody>
          <a:bodyPr wrap="square" lIns="0" tIns="0" rIns="0" bIns="0" anchor="t">
            <a:spAutoFit/>
          </a:bodyPr>
          <a:lstStyle/>
          <a:p>
            <a:pPr algn="l"/>
            <a:r>
              <a:rPr sz="1400" b="1" i="0">
                <a:solidFill>
                  <a:srgbClr val="094542"/>
                </a:solidFill>
              </a:rPr>
              <a:t>Relevant data or facts</a:t>
            </a:r>
          </a:p>
        </p:txBody>
      </p:sp>
      <p:graphicFrame>
        <p:nvGraphicFramePr>
          <p:cNvPr id="31" name="Complaints chart"/>
          <p:cNvGraphicFramePr>
            <a:graphicFrameLocks noGrp="1"/>
          </p:cNvGraphicFramePr>
          <p:nvPr/>
        </p:nvGraphicFramePr>
        <p:xfrm>
          <a:off x="5532120" y="2670048"/>
          <a:ext cx="2926080" cy="1234440"/>
        </p:xfrm>
        <a:graphic>
          <a:graphicData uri="http://schemas.openxmlformats.org/drawingml/2006/chart">
            <c:chart xmlns:c="http://schemas.openxmlformats.org/drawingml/2006/chart" xmlns:r="http://schemas.openxmlformats.org/officeDocument/2006/relationships" r:id="rId5"/>
          </a:graphicData>
        </a:graphic>
      </p:graphicFrame>
      <p:sp>
        <p:nvSpPr>
          <p:cNvPr id="32" name="Chart caption"/>
          <p:cNvSpPr txBox="1"/>
          <p:nvPr/>
        </p:nvSpPr>
        <p:spPr>
          <a:xfrm>
            <a:off x="5623560" y="2468880"/>
            <a:ext cx="2926080" cy="228600"/>
          </a:xfrm>
          <a:prstGeom prst="rect">
            <a:avLst/>
          </a:prstGeom>
          <a:noFill/>
        </p:spPr>
        <p:txBody>
          <a:bodyPr wrap="square" lIns="0" tIns="0" rIns="0" bIns="0" anchor="t">
            <a:spAutoFit/>
          </a:bodyPr>
          <a:lstStyle/>
          <a:p>
            <a:pPr algn="l"/>
            <a:r>
              <a:rPr sz="900" b="0" i="0">
                <a:solidFill>
                  <a:srgbClr val="5B6F6B"/>
                </a:solidFill>
              </a:rPr>
              <a:t>Financial fraud complaints on the national cybercrime portal (lakh)</a:t>
            </a:r>
          </a:p>
        </p:txBody>
      </p:sp>
      <p:sp>
        <p:nvSpPr>
          <p:cNvPr id="33" name="Stat tile"/>
          <p:cNvSpPr/>
          <p:nvPr/>
        </p:nvSpPr>
        <p:spPr>
          <a:xfrm>
            <a:off x="8641080" y="2514600"/>
            <a:ext cx="2907791" cy="694944"/>
          </a:xfrm>
          <a:prstGeom prst="roundRect">
            <a:avLst>
              <a:gd name="adj" fmla="val 10000"/>
            </a:avLst>
          </a:prstGeom>
          <a:solidFill>
            <a:srgbClr val="F3F8F5"/>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Stat"/>
          <p:cNvSpPr txBox="1"/>
          <p:nvPr/>
        </p:nvSpPr>
        <p:spPr>
          <a:xfrm>
            <a:off x="8778240" y="2560320"/>
            <a:ext cx="2633472" cy="274320"/>
          </a:xfrm>
          <a:prstGeom prst="rect">
            <a:avLst/>
          </a:prstGeom>
          <a:noFill/>
        </p:spPr>
        <p:txBody>
          <a:bodyPr wrap="square" lIns="0" tIns="0" rIns="0" bIns="0" anchor="t">
            <a:spAutoFit/>
          </a:bodyPr>
          <a:lstStyle/>
          <a:p>
            <a:pPr algn="l"/>
            <a:r>
              <a:rPr sz="1700" b="1" i="0">
                <a:solidFill>
                  <a:srgbClr val="026855"/>
                </a:solidFill>
                <a:latin typeface="Cambria"/>
              </a:rPr>
              <a:t>₹22,495 crore</a:t>
            </a:r>
          </a:p>
        </p:txBody>
      </p:sp>
      <p:sp>
        <p:nvSpPr>
          <p:cNvPr id="35" name="Stat label"/>
          <p:cNvSpPr txBox="1"/>
          <p:nvPr/>
        </p:nvSpPr>
        <p:spPr>
          <a:xfrm>
            <a:off x="8778240" y="2852928"/>
            <a:ext cx="2633472" cy="329184"/>
          </a:xfrm>
          <a:prstGeom prst="rect">
            <a:avLst/>
          </a:prstGeom>
          <a:noFill/>
        </p:spPr>
        <p:txBody>
          <a:bodyPr wrap="square" lIns="0" tIns="0" rIns="0" bIns="0" anchor="t">
            <a:spAutoFit/>
          </a:bodyPr>
          <a:lstStyle/>
          <a:p>
            <a:pPr algn="l"/>
            <a:r>
              <a:rPr sz="1000" b="0" i="0">
                <a:solidFill>
                  <a:srgbClr val="0E2A2F"/>
                </a:solidFill>
              </a:rPr>
              <a:t>reported lost in 2025 alone</a:t>
            </a:r>
          </a:p>
        </p:txBody>
      </p:sp>
      <p:sp>
        <p:nvSpPr>
          <p:cNvPr id="36" name="Stat tile"/>
          <p:cNvSpPr/>
          <p:nvPr/>
        </p:nvSpPr>
        <p:spPr>
          <a:xfrm>
            <a:off x="8641080" y="3291840"/>
            <a:ext cx="2907791" cy="694944"/>
          </a:xfrm>
          <a:prstGeom prst="roundRect">
            <a:avLst>
              <a:gd name="adj" fmla="val 10000"/>
            </a:avLst>
          </a:prstGeom>
          <a:solidFill>
            <a:srgbClr val="F3F8F5"/>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Stat"/>
          <p:cNvSpPr txBox="1"/>
          <p:nvPr/>
        </p:nvSpPr>
        <p:spPr>
          <a:xfrm>
            <a:off x="8778240" y="3337560"/>
            <a:ext cx="2633472" cy="274320"/>
          </a:xfrm>
          <a:prstGeom prst="rect">
            <a:avLst/>
          </a:prstGeom>
          <a:noFill/>
        </p:spPr>
        <p:txBody>
          <a:bodyPr wrap="square" lIns="0" tIns="0" rIns="0" bIns="0" anchor="t">
            <a:spAutoFit/>
          </a:bodyPr>
          <a:lstStyle/>
          <a:p>
            <a:pPr algn="l"/>
            <a:r>
              <a:rPr sz="1700" b="1" i="0">
                <a:solidFill>
                  <a:srgbClr val="094542"/>
                </a:solidFill>
                <a:latin typeface="Cambria"/>
              </a:rPr>
              <a:t>₹11,158 crore</a:t>
            </a:r>
          </a:p>
        </p:txBody>
      </p:sp>
      <p:sp>
        <p:nvSpPr>
          <p:cNvPr id="38" name="Stat label"/>
          <p:cNvSpPr txBox="1"/>
          <p:nvPr/>
        </p:nvSpPr>
        <p:spPr>
          <a:xfrm>
            <a:off x="8778240" y="3630168"/>
            <a:ext cx="2633472" cy="329184"/>
          </a:xfrm>
          <a:prstGeom prst="rect">
            <a:avLst/>
          </a:prstGeom>
          <a:noFill/>
        </p:spPr>
        <p:txBody>
          <a:bodyPr wrap="square" lIns="0" tIns="0" rIns="0" bIns="0" anchor="t">
            <a:spAutoFit/>
          </a:bodyPr>
          <a:lstStyle/>
          <a:p>
            <a:pPr algn="l"/>
            <a:r>
              <a:rPr sz="1000" b="0" i="0">
                <a:solidFill>
                  <a:srgbClr val="0E2A2F"/>
                </a:solidFill>
              </a:rPr>
              <a:t>saved through CFCFRMS till 30 June 2026, across 32.80 lakh complaints</a:t>
            </a:r>
          </a:p>
        </p:txBody>
      </p:sp>
      <p:sp>
        <p:nvSpPr>
          <p:cNvPr id="39" name="Source"/>
          <p:cNvSpPr txBox="1"/>
          <p:nvPr/>
        </p:nvSpPr>
        <p:spPr>
          <a:xfrm>
            <a:off x="5623560" y="3931920"/>
            <a:ext cx="5879592" cy="182880"/>
          </a:xfrm>
          <a:prstGeom prst="rect">
            <a:avLst/>
          </a:prstGeom>
          <a:noFill/>
        </p:spPr>
        <p:txBody>
          <a:bodyPr wrap="square" lIns="0" tIns="0" rIns="0" bIns="0" anchor="t">
            <a:spAutoFit/>
          </a:bodyPr>
          <a:lstStyle/>
          <a:p>
            <a:pPr algn="l"/>
            <a:r>
              <a:rPr sz="800" b="0" i="1">
                <a:solidFill>
                  <a:srgbClr val="5B6F6B"/>
                </a:solidFill>
              </a:rPr>
              <a:t>Source: MHA replies in Parliament, 2026</a:t>
            </a:r>
          </a:p>
        </p:txBody>
      </p:sp>
      <p:sp>
        <p:nvSpPr>
          <p:cNvPr id="40" name="Time tile"/>
          <p:cNvSpPr/>
          <p:nvPr/>
        </p:nvSpPr>
        <p:spPr>
          <a:xfrm>
            <a:off x="685800" y="3584448"/>
            <a:ext cx="4297680" cy="457200"/>
          </a:xfrm>
          <a:prstGeom prst="roundRect">
            <a:avLst>
              <a:gd name="adj" fmla="val 15000"/>
            </a:avLst>
          </a:prstGeom>
          <a:solidFill>
            <a:srgbClr val="F3F8F5"/>
          </a:solidFill>
          <a:ln w="15875">
            <a:solidFill>
              <a:srgbClr val="7AC1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Icon circle"/>
          <p:cNvSpPr/>
          <p:nvPr/>
        </p:nvSpPr>
        <p:spPr>
          <a:xfrm>
            <a:off x="758952" y="3611880"/>
            <a:ext cx="402336" cy="402336"/>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Icon FaHourglassEnd" descr="FaHourglassEnd_w.png"/>
          <p:cNvPicPr>
            <a:picLocks noChangeAspect="1"/>
          </p:cNvPicPr>
          <p:nvPr/>
        </p:nvPicPr>
        <p:blipFill>
          <a:blip r:embed="rId6"/>
          <a:stretch>
            <a:fillRect/>
          </a:stretch>
        </p:blipFill>
        <p:spPr>
          <a:xfrm>
            <a:off x="859536" y="3712464"/>
            <a:ext cx="201168" cy="201168"/>
          </a:xfrm>
          <a:prstGeom prst="rect">
            <a:avLst/>
          </a:prstGeom>
        </p:spPr>
      </p:pic>
      <p:sp>
        <p:nvSpPr>
          <p:cNvPr id="43" name="Time text"/>
          <p:cNvSpPr txBox="1"/>
          <p:nvPr/>
        </p:nvSpPr>
        <p:spPr>
          <a:xfrm>
            <a:off x="1325880" y="3584448"/>
            <a:ext cx="3566160" cy="457200"/>
          </a:xfrm>
          <a:prstGeom prst="rect">
            <a:avLst/>
          </a:prstGeom>
          <a:noFill/>
        </p:spPr>
        <p:txBody>
          <a:bodyPr wrap="square" lIns="0" tIns="0" rIns="0" bIns="0" anchor="ctr">
            <a:spAutoFit/>
          </a:bodyPr>
          <a:lstStyle/>
          <a:p>
            <a:pPr algn="l"/>
            <a:r>
              <a:rPr sz="1400" b="1" i="0">
                <a:solidFill>
                  <a:srgbClr val="094542"/>
                </a:solidFill>
              </a:rPr>
              <a:t>Time to act: only a few minutes</a:t>
            </a:r>
          </a:p>
        </p:txBody>
      </p:sp>
      <p:sp>
        <p:nvSpPr>
          <p:cNvPr id="44" name="Section title"/>
          <p:cNvSpPr txBox="1"/>
          <p:nvPr/>
        </p:nvSpPr>
        <p:spPr>
          <a:xfrm>
            <a:off x="457200" y="4297680"/>
            <a:ext cx="5486400" cy="274320"/>
          </a:xfrm>
          <a:prstGeom prst="rect">
            <a:avLst/>
          </a:prstGeom>
          <a:noFill/>
        </p:spPr>
        <p:txBody>
          <a:bodyPr wrap="square" lIns="0" tIns="0" rIns="0" bIns="0" anchor="t">
            <a:spAutoFit/>
          </a:bodyPr>
          <a:lstStyle/>
          <a:p>
            <a:pPr algn="l"/>
            <a:r>
              <a:rPr sz="1400" b="1" i="0">
                <a:solidFill>
                  <a:srgbClr val="094542"/>
                </a:solidFill>
              </a:rPr>
              <a:t>Current workflow, step by step</a:t>
            </a:r>
          </a:p>
        </p:txBody>
      </p:sp>
      <p:sp>
        <p:nvSpPr>
          <p:cNvPr id="45" name="Step card"/>
          <p:cNvSpPr/>
          <p:nvPr/>
        </p:nvSpPr>
        <p:spPr>
          <a:xfrm>
            <a:off x="457200" y="4663440"/>
            <a:ext cx="2035454" cy="1463040"/>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Icon circle"/>
          <p:cNvSpPr/>
          <p:nvPr/>
        </p:nvSpPr>
        <p:spPr>
          <a:xfrm>
            <a:off x="594360" y="4773168"/>
            <a:ext cx="457200" cy="457200"/>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Icon FaMobileAlt" descr="FaMobileAlt_w.png"/>
          <p:cNvPicPr>
            <a:picLocks noChangeAspect="1"/>
          </p:cNvPicPr>
          <p:nvPr/>
        </p:nvPicPr>
        <p:blipFill>
          <a:blip r:embed="rId7"/>
          <a:stretch>
            <a:fillRect/>
          </a:stretch>
        </p:blipFill>
        <p:spPr>
          <a:xfrm>
            <a:off x="704088" y="4882896"/>
            <a:ext cx="237744" cy="237744"/>
          </a:xfrm>
          <a:prstGeom prst="rect">
            <a:avLst/>
          </a:prstGeom>
        </p:spPr>
      </p:pic>
      <p:sp>
        <p:nvSpPr>
          <p:cNvPr id="48" name="Step number"/>
          <p:cNvSpPr txBox="1"/>
          <p:nvPr/>
        </p:nvSpPr>
        <p:spPr>
          <a:xfrm>
            <a:off x="1989734" y="4754880"/>
            <a:ext cx="365760" cy="365760"/>
          </a:xfrm>
          <a:prstGeom prst="rect">
            <a:avLst/>
          </a:prstGeom>
          <a:noFill/>
        </p:spPr>
        <p:txBody>
          <a:bodyPr wrap="square" lIns="0" tIns="0" rIns="0" bIns="0" anchor="t">
            <a:spAutoFit/>
          </a:bodyPr>
          <a:lstStyle/>
          <a:p>
            <a:pPr algn="r"/>
            <a:r>
              <a:rPr sz="2000" b="1" i="0">
                <a:solidFill>
                  <a:srgbClr val="7AC143"/>
                </a:solidFill>
                <a:latin typeface="Cambria"/>
              </a:rPr>
              <a:t>1</a:t>
            </a:r>
          </a:p>
        </p:txBody>
      </p:sp>
      <p:sp>
        <p:nvSpPr>
          <p:cNvPr id="49" name="Step text"/>
          <p:cNvSpPr txBox="1"/>
          <p:nvPr/>
        </p:nvSpPr>
        <p:spPr>
          <a:xfrm>
            <a:off x="594360" y="5349240"/>
            <a:ext cx="1761134" cy="731520"/>
          </a:xfrm>
          <a:prstGeom prst="rect">
            <a:avLst/>
          </a:prstGeom>
          <a:noFill/>
        </p:spPr>
        <p:txBody>
          <a:bodyPr wrap="square" lIns="0" tIns="0" rIns="0" bIns="0" anchor="t">
            <a:spAutoFit/>
          </a:bodyPr>
          <a:lstStyle/>
          <a:p>
            <a:pPr algn="l"/>
            <a:r>
              <a:rPr sz="1200" b="0" i="0">
                <a:solidFill>
                  <a:srgbClr val="0E2A2F"/>
                </a:solidFill>
              </a:rPr>
              <a:t>Victim sends money and finds out later it was a scam</a:t>
            </a:r>
          </a:p>
        </p:txBody>
      </p:sp>
      <p:sp>
        <p:nvSpPr>
          <p:cNvPr id="50" name="Arrow"/>
          <p:cNvSpPr/>
          <p:nvPr/>
        </p:nvSpPr>
        <p:spPr>
          <a:xfrm>
            <a:off x="2510942" y="5257800"/>
            <a:ext cx="237744" cy="256032"/>
          </a:xfrm>
          <a:prstGeom prst="rightArrow">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Step card"/>
          <p:cNvSpPr/>
          <p:nvPr/>
        </p:nvSpPr>
        <p:spPr>
          <a:xfrm>
            <a:off x="2766974" y="4663440"/>
            <a:ext cx="2035454" cy="1463040"/>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Icon circle"/>
          <p:cNvSpPr/>
          <p:nvPr/>
        </p:nvSpPr>
        <p:spPr>
          <a:xfrm>
            <a:off x="2904134" y="4773168"/>
            <a:ext cx="457200" cy="457200"/>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3" name="Icon FaPhoneAlt" descr="FaPhoneAlt_w.png"/>
          <p:cNvPicPr>
            <a:picLocks noChangeAspect="1"/>
          </p:cNvPicPr>
          <p:nvPr/>
        </p:nvPicPr>
        <p:blipFill>
          <a:blip r:embed="rId8"/>
          <a:stretch>
            <a:fillRect/>
          </a:stretch>
        </p:blipFill>
        <p:spPr>
          <a:xfrm>
            <a:off x="3013862" y="4882896"/>
            <a:ext cx="237744" cy="237744"/>
          </a:xfrm>
          <a:prstGeom prst="rect">
            <a:avLst/>
          </a:prstGeom>
        </p:spPr>
      </p:pic>
      <p:sp>
        <p:nvSpPr>
          <p:cNvPr id="54" name="Step number"/>
          <p:cNvSpPr txBox="1"/>
          <p:nvPr/>
        </p:nvSpPr>
        <p:spPr>
          <a:xfrm>
            <a:off x="4299508" y="4754880"/>
            <a:ext cx="365760" cy="365760"/>
          </a:xfrm>
          <a:prstGeom prst="rect">
            <a:avLst/>
          </a:prstGeom>
          <a:noFill/>
        </p:spPr>
        <p:txBody>
          <a:bodyPr wrap="square" lIns="0" tIns="0" rIns="0" bIns="0" anchor="t">
            <a:spAutoFit/>
          </a:bodyPr>
          <a:lstStyle/>
          <a:p>
            <a:pPr algn="r"/>
            <a:r>
              <a:rPr sz="2000" b="1" i="0">
                <a:solidFill>
                  <a:srgbClr val="7AC143"/>
                </a:solidFill>
                <a:latin typeface="Cambria"/>
              </a:rPr>
              <a:t>2</a:t>
            </a:r>
          </a:p>
        </p:txBody>
      </p:sp>
      <p:sp>
        <p:nvSpPr>
          <p:cNvPr id="55" name="Step text"/>
          <p:cNvSpPr txBox="1"/>
          <p:nvPr/>
        </p:nvSpPr>
        <p:spPr>
          <a:xfrm>
            <a:off x="2904134" y="5349240"/>
            <a:ext cx="1761134" cy="731520"/>
          </a:xfrm>
          <a:prstGeom prst="rect">
            <a:avLst/>
          </a:prstGeom>
          <a:noFill/>
        </p:spPr>
        <p:txBody>
          <a:bodyPr wrap="square" lIns="0" tIns="0" rIns="0" bIns="0" anchor="t">
            <a:spAutoFit/>
          </a:bodyPr>
          <a:lstStyle/>
          <a:p>
            <a:pPr algn="l"/>
            <a:r>
              <a:rPr sz="1200" b="0" i="0">
                <a:solidFill>
                  <a:srgbClr val="0E2A2F"/>
                </a:solidFill>
              </a:rPr>
              <a:t>Calls 1930 or files on the cybercrime portal</a:t>
            </a:r>
          </a:p>
        </p:txBody>
      </p:sp>
      <p:sp>
        <p:nvSpPr>
          <p:cNvPr id="56" name="Arrow"/>
          <p:cNvSpPr/>
          <p:nvPr/>
        </p:nvSpPr>
        <p:spPr>
          <a:xfrm>
            <a:off x="4820716" y="5257800"/>
            <a:ext cx="237744" cy="256032"/>
          </a:xfrm>
          <a:prstGeom prst="rightArrow">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Step card"/>
          <p:cNvSpPr/>
          <p:nvPr/>
        </p:nvSpPr>
        <p:spPr>
          <a:xfrm>
            <a:off x="5076748" y="4663440"/>
            <a:ext cx="2035454" cy="1463040"/>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Icon circle"/>
          <p:cNvSpPr/>
          <p:nvPr/>
        </p:nvSpPr>
        <p:spPr>
          <a:xfrm>
            <a:off x="5213908" y="4773168"/>
            <a:ext cx="457200" cy="457200"/>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9" name="Icon FaProjectDiagram" descr="FaProjectDiagram_w.png"/>
          <p:cNvPicPr>
            <a:picLocks noChangeAspect="1"/>
          </p:cNvPicPr>
          <p:nvPr/>
        </p:nvPicPr>
        <p:blipFill>
          <a:blip r:embed="rId9"/>
          <a:stretch>
            <a:fillRect/>
          </a:stretch>
        </p:blipFill>
        <p:spPr>
          <a:xfrm>
            <a:off x="5323636" y="4882896"/>
            <a:ext cx="237744" cy="237744"/>
          </a:xfrm>
          <a:prstGeom prst="rect">
            <a:avLst/>
          </a:prstGeom>
        </p:spPr>
      </p:pic>
      <p:sp>
        <p:nvSpPr>
          <p:cNvPr id="60" name="Step number"/>
          <p:cNvSpPr txBox="1"/>
          <p:nvPr/>
        </p:nvSpPr>
        <p:spPr>
          <a:xfrm>
            <a:off x="6609283" y="4754880"/>
            <a:ext cx="365760" cy="365760"/>
          </a:xfrm>
          <a:prstGeom prst="rect">
            <a:avLst/>
          </a:prstGeom>
          <a:noFill/>
        </p:spPr>
        <p:txBody>
          <a:bodyPr wrap="square" lIns="0" tIns="0" rIns="0" bIns="0" anchor="t">
            <a:spAutoFit/>
          </a:bodyPr>
          <a:lstStyle/>
          <a:p>
            <a:pPr algn="r"/>
            <a:r>
              <a:rPr sz="2000" b="1" i="0">
                <a:solidFill>
                  <a:srgbClr val="7AC143"/>
                </a:solidFill>
                <a:latin typeface="Cambria"/>
              </a:rPr>
              <a:t>3</a:t>
            </a:r>
          </a:p>
        </p:txBody>
      </p:sp>
      <p:sp>
        <p:nvSpPr>
          <p:cNvPr id="61" name="Step text"/>
          <p:cNvSpPr txBox="1"/>
          <p:nvPr/>
        </p:nvSpPr>
        <p:spPr>
          <a:xfrm>
            <a:off x="5213908" y="5349240"/>
            <a:ext cx="1761134" cy="731520"/>
          </a:xfrm>
          <a:prstGeom prst="rect">
            <a:avLst/>
          </a:prstGeom>
          <a:noFill/>
        </p:spPr>
        <p:txBody>
          <a:bodyPr wrap="square" lIns="0" tIns="0" rIns="0" bIns="0" anchor="t">
            <a:spAutoFit/>
          </a:bodyPr>
          <a:lstStyle/>
          <a:p>
            <a:pPr algn="l"/>
            <a:r>
              <a:rPr sz="1200" b="0" i="0">
                <a:solidFill>
                  <a:srgbClr val="0E2A2F"/>
                </a:solidFill>
              </a:rPr>
              <a:t>Complaint is passed bank by bank down the chain</a:t>
            </a:r>
          </a:p>
        </p:txBody>
      </p:sp>
      <p:sp>
        <p:nvSpPr>
          <p:cNvPr id="62" name="Arrow"/>
          <p:cNvSpPr/>
          <p:nvPr/>
        </p:nvSpPr>
        <p:spPr>
          <a:xfrm>
            <a:off x="7130491" y="5257800"/>
            <a:ext cx="237744" cy="256032"/>
          </a:xfrm>
          <a:prstGeom prst="rightArrow">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Step card"/>
          <p:cNvSpPr/>
          <p:nvPr/>
        </p:nvSpPr>
        <p:spPr>
          <a:xfrm>
            <a:off x="7386523" y="4663440"/>
            <a:ext cx="2035454" cy="1463040"/>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Icon circle"/>
          <p:cNvSpPr/>
          <p:nvPr/>
        </p:nvSpPr>
        <p:spPr>
          <a:xfrm>
            <a:off x="7523683" y="4773168"/>
            <a:ext cx="457200" cy="457200"/>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5" name="Icon FaUniversity" descr="FaUniversity_w.png"/>
          <p:cNvPicPr>
            <a:picLocks noChangeAspect="1"/>
          </p:cNvPicPr>
          <p:nvPr/>
        </p:nvPicPr>
        <p:blipFill>
          <a:blip r:embed="rId10"/>
          <a:stretch>
            <a:fillRect/>
          </a:stretch>
        </p:blipFill>
        <p:spPr>
          <a:xfrm>
            <a:off x="7633411" y="4882896"/>
            <a:ext cx="237744" cy="237744"/>
          </a:xfrm>
          <a:prstGeom prst="rect">
            <a:avLst/>
          </a:prstGeom>
        </p:spPr>
      </p:pic>
      <p:sp>
        <p:nvSpPr>
          <p:cNvPr id="66" name="Step number"/>
          <p:cNvSpPr txBox="1"/>
          <p:nvPr/>
        </p:nvSpPr>
        <p:spPr>
          <a:xfrm>
            <a:off x="8919057" y="4754880"/>
            <a:ext cx="365760" cy="365760"/>
          </a:xfrm>
          <a:prstGeom prst="rect">
            <a:avLst/>
          </a:prstGeom>
          <a:noFill/>
        </p:spPr>
        <p:txBody>
          <a:bodyPr wrap="square" lIns="0" tIns="0" rIns="0" bIns="0" anchor="t">
            <a:spAutoFit/>
          </a:bodyPr>
          <a:lstStyle/>
          <a:p>
            <a:pPr algn="r"/>
            <a:r>
              <a:rPr sz="2000" b="1" i="0">
                <a:solidFill>
                  <a:srgbClr val="7AC143"/>
                </a:solidFill>
                <a:latin typeface="Cambria"/>
              </a:rPr>
              <a:t>4</a:t>
            </a:r>
          </a:p>
        </p:txBody>
      </p:sp>
      <p:sp>
        <p:nvSpPr>
          <p:cNvPr id="67" name="Step text"/>
          <p:cNvSpPr txBox="1"/>
          <p:nvPr/>
        </p:nvSpPr>
        <p:spPr>
          <a:xfrm>
            <a:off x="7523683" y="5349240"/>
            <a:ext cx="1761134" cy="731520"/>
          </a:xfrm>
          <a:prstGeom prst="rect">
            <a:avLst/>
          </a:prstGeom>
          <a:noFill/>
        </p:spPr>
        <p:txBody>
          <a:bodyPr wrap="square" lIns="0" tIns="0" rIns="0" bIns="0" anchor="t">
            <a:spAutoFit/>
          </a:bodyPr>
          <a:lstStyle/>
          <a:p>
            <a:pPr algn="l"/>
            <a:r>
              <a:rPr sz="1200" b="0" i="0">
                <a:solidFill>
                  <a:srgbClr val="0E2A2F"/>
                </a:solidFill>
              </a:rPr>
              <a:t>Each bank checks only its own account and holds what is left</a:t>
            </a:r>
          </a:p>
        </p:txBody>
      </p:sp>
      <p:sp>
        <p:nvSpPr>
          <p:cNvPr id="68" name="Arrow"/>
          <p:cNvSpPr/>
          <p:nvPr/>
        </p:nvSpPr>
        <p:spPr>
          <a:xfrm>
            <a:off x="9440265" y="5257800"/>
            <a:ext cx="237744" cy="256032"/>
          </a:xfrm>
          <a:prstGeom prst="rightArrow">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Step card"/>
          <p:cNvSpPr/>
          <p:nvPr/>
        </p:nvSpPr>
        <p:spPr>
          <a:xfrm>
            <a:off x="9696297" y="4663440"/>
            <a:ext cx="2035454" cy="1463040"/>
          </a:xfrm>
          <a:prstGeom prst="roundRect">
            <a:avLst>
              <a:gd name="adj" fmla="val 4000"/>
            </a:avLst>
          </a:prstGeom>
          <a:solidFill>
            <a:srgbClr val="FBEEEC"/>
          </a:solidFill>
          <a:ln w="12700">
            <a:solidFill>
              <a:srgbClr val="B5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Icon circle"/>
          <p:cNvSpPr/>
          <p:nvPr/>
        </p:nvSpPr>
        <p:spPr>
          <a:xfrm>
            <a:off x="9833457" y="4773168"/>
            <a:ext cx="457200" cy="457200"/>
          </a:xfrm>
          <a:prstGeom prst="ellipse">
            <a:avLst/>
          </a:prstGeom>
          <a:solidFill>
            <a:srgbClr val="B5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1" name="Icon FaHourglassEnd" descr="FaHourglassEnd_w.png"/>
          <p:cNvPicPr>
            <a:picLocks noChangeAspect="1"/>
          </p:cNvPicPr>
          <p:nvPr/>
        </p:nvPicPr>
        <p:blipFill>
          <a:blip r:embed="rId6"/>
          <a:stretch>
            <a:fillRect/>
          </a:stretch>
        </p:blipFill>
        <p:spPr>
          <a:xfrm>
            <a:off x="9943185" y="4882896"/>
            <a:ext cx="237744" cy="237744"/>
          </a:xfrm>
          <a:prstGeom prst="rect">
            <a:avLst/>
          </a:prstGeom>
        </p:spPr>
      </p:pic>
      <p:sp>
        <p:nvSpPr>
          <p:cNvPr id="72" name="Step number"/>
          <p:cNvSpPr txBox="1"/>
          <p:nvPr/>
        </p:nvSpPr>
        <p:spPr>
          <a:xfrm>
            <a:off x="11228831" y="4754880"/>
            <a:ext cx="365760" cy="365760"/>
          </a:xfrm>
          <a:prstGeom prst="rect">
            <a:avLst/>
          </a:prstGeom>
          <a:noFill/>
        </p:spPr>
        <p:txBody>
          <a:bodyPr wrap="square" lIns="0" tIns="0" rIns="0" bIns="0" anchor="t">
            <a:spAutoFit/>
          </a:bodyPr>
          <a:lstStyle/>
          <a:p>
            <a:pPr algn="r"/>
            <a:r>
              <a:rPr sz="2000" b="1" i="0">
                <a:solidFill>
                  <a:srgbClr val="B53A2E"/>
                </a:solidFill>
                <a:latin typeface="Cambria"/>
              </a:rPr>
              <a:t>5</a:t>
            </a:r>
          </a:p>
        </p:txBody>
      </p:sp>
      <p:sp>
        <p:nvSpPr>
          <p:cNvPr id="73" name="Step text"/>
          <p:cNvSpPr txBox="1"/>
          <p:nvPr/>
        </p:nvSpPr>
        <p:spPr>
          <a:xfrm>
            <a:off x="9833457" y="5349240"/>
            <a:ext cx="1761134" cy="731520"/>
          </a:xfrm>
          <a:prstGeom prst="rect">
            <a:avLst/>
          </a:prstGeom>
          <a:noFill/>
        </p:spPr>
        <p:txBody>
          <a:bodyPr wrap="square" lIns="0" tIns="0" rIns="0" bIns="0" anchor="t">
            <a:spAutoFit/>
          </a:bodyPr>
          <a:lstStyle/>
          <a:p>
            <a:pPr algn="l"/>
            <a:r>
              <a:rPr sz="1200" b="0" i="0">
                <a:solidFill>
                  <a:srgbClr val="0E2A2F"/>
                </a:solidFill>
              </a:rPr>
              <a:t>By then, most of the money has often moved 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a:solidFill>
                  <a:schemeClr val="accent1"/>
                </a:solidFill>
              </a:rPr>
              <a:t>Dark Mod Devs</a:t>
            </a:r>
            <a:endParaRPr lang="en-US" sz="15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
        <p:nvSpPr>
          <p:cNvPr id="26" name="Card"/>
          <p:cNvSpPr/>
          <p:nvPr/>
        </p:nvSpPr>
        <p:spPr>
          <a:xfrm>
            <a:off x="457200" y="2011680"/>
            <a:ext cx="3514344" cy="2606040"/>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Icon circle"/>
          <p:cNvSpPr/>
          <p:nvPr/>
        </p:nvSpPr>
        <p:spPr>
          <a:xfrm>
            <a:off x="621792" y="2148840"/>
            <a:ext cx="502920" cy="502920"/>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FaExclamationTriangle" descr="FaExclamationTriangle_w.png"/>
          <p:cNvPicPr>
            <a:picLocks noChangeAspect="1"/>
          </p:cNvPicPr>
          <p:nvPr/>
        </p:nvPicPr>
        <p:blipFill>
          <a:blip r:embed="rId5"/>
          <a:stretch>
            <a:fillRect/>
          </a:stretch>
        </p:blipFill>
        <p:spPr>
          <a:xfrm>
            <a:off x="742492" y="2269540"/>
            <a:ext cx="261518" cy="261518"/>
          </a:xfrm>
          <a:prstGeom prst="rect">
            <a:avLst/>
          </a:prstGeom>
        </p:spPr>
      </p:pic>
      <p:sp>
        <p:nvSpPr>
          <p:cNvPr id="29" name="Card title"/>
          <p:cNvSpPr txBox="1"/>
          <p:nvPr/>
        </p:nvSpPr>
        <p:spPr>
          <a:xfrm>
            <a:off x="1261872" y="2121408"/>
            <a:ext cx="2599944" cy="566928"/>
          </a:xfrm>
          <a:prstGeom prst="rect">
            <a:avLst/>
          </a:prstGeom>
          <a:noFill/>
        </p:spPr>
        <p:txBody>
          <a:bodyPr wrap="square" lIns="0" tIns="0" rIns="0" bIns="0" anchor="ctr">
            <a:spAutoFit/>
          </a:bodyPr>
          <a:lstStyle/>
          <a:p>
            <a:pPr algn="l"/>
            <a:r>
              <a:rPr sz="1300" b="1" i="0">
                <a:solidFill>
                  <a:srgbClr val="094542"/>
                </a:solidFill>
              </a:rPr>
              <a:t>Main difficulties and bottlenecks</a:t>
            </a:r>
          </a:p>
        </p:txBody>
      </p:sp>
      <p:sp>
        <p:nvSpPr>
          <p:cNvPr id="30" name="Bullets"/>
          <p:cNvSpPr txBox="1"/>
          <p:nvPr/>
        </p:nvSpPr>
        <p:spPr>
          <a:xfrm>
            <a:off x="658368" y="2816352"/>
            <a:ext cx="3130296" cy="1737360"/>
          </a:xfrm>
          <a:prstGeom prst="rect">
            <a:avLst/>
          </a:prstGeom>
          <a:noFill/>
        </p:spPr>
        <p:txBody>
          <a:bodyPr wrap="square" lIns="0" tIns="0" rIns="0" bIns="0">
            <a:spAutoFit/>
          </a:bodyPr>
          <a:lstStyle/>
          <a:p>
            <a:pPr marL="182880" indent="-182880">
              <a:spcAft>
                <a:spcPts val="400"/>
              </a:spcAft>
              <a:buClr>
                <a:srgbClr val="026855"/>
              </a:buClr>
              <a:buChar char="•"/>
            </a:pPr>
            <a:r>
              <a:rPr sz="1200" b="0" i="0">
                <a:solidFill>
                  <a:srgbClr val="0E2A2F"/>
                </a:solidFill>
              </a:rPr>
              <a:t>No single bank sees the full chain</a:t>
            </a:r>
          </a:p>
          <a:p>
            <a:pPr marL="182880" indent="-182880">
              <a:spcAft>
                <a:spcPts val="400"/>
              </a:spcAft>
              <a:buClr>
                <a:srgbClr val="026855"/>
              </a:buClr>
              <a:buChar char="•"/>
            </a:pPr>
            <a:r>
              <a:rPr sz="1200" b="0" i="0">
                <a:solidFill>
                  <a:srgbClr val="0E2A2F"/>
                </a:solidFill>
              </a:rPr>
              <a:t>Only a few minutes to act</a:t>
            </a:r>
          </a:p>
          <a:p>
            <a:pPr marL="182880" indent="-182880">
              <a:spcAft>
                <a:spcPts val="400"/>
              </a:spcAft>
              <a:buClr>
                <a:srgbClr val="026855"/>
              </a:buClr>
              <a:buChar char="•"/>
            </a:pPr>
            <a:r>
              <a:rPr sz="1200" b="0" i="0">
                <a:solidFill>
                  <a:srgbClr val="0E2A2F"/>
                </a:solidFill>
              </a:rPr>
              <a:t>Mule accounts look normal: small amounts, ordinary people</a:t>
            </a:r>
          </a:p>
          <a:p>
            <a:pPr marL="182880" indent="-182880">
              <a:spcAft>
                <a:spcPts val="400"/>
              </a:spcAft>
              <a:buClr>
                <a:srgbClr val="026855"/>
              </a:buClr>
              <a:buChar char="•"/>
            </a:pPr>
            <a:r>
              <a:rPr sz="1200" b="0" i="0">
                <a:solidFill>
                  <a:srgbClr val="0E2A2F"/>
                </a:solidFill>
              </a:rPr>
              <a:t>Fraud patterns keep changing</a:t>
            </a:r>
          </a:p>
          <a:p>
            <a:pPr marL="182880" indent="-182880">
              <a:spcAft>
                <a:spcPts val="400"/>
              </a:spcAft>
              <a:buClr>
                <a:srgbClr val="026855"/>
              </a:buClr>
              <a:buChar char="•"/>
            </a:pPr>
            <a:r>
              <a:rPr sz="1200" b="0" i="0">
                <a:solidFill>
                  <a:srgbClr val="0E2A2F"/>
                </a:solidFill>
              </a:rPr>
              <a:t>A wrong freeze hurts an honest user</a:t>
            </a:r>
          </a:p>
        </p:txBody>
      </p:sp>
      <p:sp>
        <p:nvSpPr>
          <p:cNvPr id="31" name="Arrow"/>
          <p:cNvSpPr/>
          <p:nvPr/>
        </p:nvSpPr>
        <p:spPr>
          <a:xfrm>
            <a:off x="4008120" y="3177540"/>
            <a:ext cx="292608" cy="274320"/>
          </a:xfrm>
          <a:prstGeom prst="rightArrow">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ard"/>
          <p:cNvSpPr/>
          <p:nvPr/>
        </p:nvSpPr>
        <p:spPr>
          <a:xfrm>
            <a:off x="4337304" y="2011680"/>
            <a:ext cx="3514344" cy="2606040"/>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con circle"/>
          <p:cNvSpPr/>
          <p:nvPr/>
        </p:nvSpPr>
        <p:spPr>
          <a:xfrm>
            <a:off x="4501896" y="2148840"/>
            <a:ext cx="502920" cy="502920"/>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Icon FaSearch" descr="FaSearch_w.png"/>
          <p:cNvPicPr>
            <a:picLocks noChangeAspect="1"/>
          </p:cNvPicPr>
          <p:nvPr/>
        </p:nvPicPr>
        <p:blipFill>
          <a:blip r:embed="rId6"/>
          <a:stretch>
            <a:fillRect/>
          </a:stretch>
        </p:blipFill>
        <p:spPr>
          <a:xfrm>
            <a:off x="4622596" y="2269540"/>
            <a:ext cx="261518" cy="261518"/>
          </a:xfrm>
          <a:prstGeom prst="rect">
            <a:avLst/>
          </a:prstGeom>
        </p:spPr>
      </p:pic>
      <p:sp>
        <p:nvSpPr>
          <p:cNvPr id="35" name="Card title"/>
          <p:cNvSpPr txBox="1"/>
          <p:nvPr/>
        </p:nvSpPr>
        <p:spPr>
          <a:xfrm>
            <a:off x="5141976" y="2121408"/>
            <a:ext cx="2599944" cy="566928"/>
          </a:xfrm>
          <a:prstGeom prst="rect">
            <a:avLst/>
          </a:prstGeom>
          <a:noFill/>
        </p:spPr>
        <p:txBody>
          <a:bodyPr wrap="square" lIns="0" tIns="0" rIns="0" bIns="0" anchor="ctr">
            <a:spAutoFit/>
          </a:bodyPr>
          <a:lstStyle/>
          <a:p>
            <a:pPr algn="l"/>
            <a:r>
              <a:rPr sz="1300" b="1" i="0">
                <a:solidFill>
                  <a:srgbClr val="094542"/>
                </a:solidFill>
              </a:rPr>
              <a:t>Root causes behind them</a:t>
            </a:r>
          </a:p>
        </p:txBody>
      </p:sp>
      <p:sp>
        <p:nvSpPr>
          <p:cNvPr id="36" name="Bullets"/>
          <p:cNvSpPr txBox="1"/>
          <p:nvPr/>
        </p:nvSpPr>
        <p:spPr>
          <a:xfrm>
            <a:off x="4538472" y="2816352"/>
            <a:ext cx="3130296" cy="1737360"/>
          </a:xfrm>
          <a:prstGeom prst="rect">
            <a:avLst/>
          </a:prstGeom>
          <a:noFill/>
        </p:spPr>
        <p:txBody>
          <a:bodyPr wrap="square" lIns="0" tIns="0" rIns="0" bIns="0">
            <a:spAutoFit/>
          </a:bodyPr>
          <a:lstStyle/>
          <a:p>
            <a:pPr marL="182880" indent="-182880">
              <a:spcAft>
                <a:spcPts val="400"/>
              </a:spcAft>
              <a:buClr>
                <a:srgbClr val="026855"/>
              </a:buClr>
              <a:buChar char="•"/>
            </a:pPr>
            <a:r>
              <a:rPr sz="1200" b="0" i="0">
                <a:solidFill>
                  <a:srgbClr val="0E2A2F"/>
                </a:solidFill>
              </a:rPr>
              <a:t>Banks cannot freely share customer data (privacy law, competition)</a:t>
            </a:r>
          </a:p>
          <a:p>
            <a:pPr marL="182880" indent="-182880">
              <a:spcAft>
                <a:spcPts val="400"/>
              </a:spcAft>
              <a:buClr>
                <a:srgbClr val="026855"/>
              </a:buClr>
              <a:buChar char="•"/>
            </a:pPr>
            <a:r>
              <a:rPr sz="1200" b="0" i="0">
                <a:solidFill>
                  <a:srgbClr val="0E2A2F"/>
                </a:solidFill>
              </a:rPr>
              <a:t>Action starts only after the victim reports</a:t>
            </a:r>
          </a:p>
          <a:p>
            <a:pPr marL="182880" indent="-182880">
              <a:spcAft>
                <a:spcPts val="400"/>
              </a:spcAft>
              <a:buClr>
                <a:srgbClr val="026855"/>
              </a:buClr>
              <a:buChar char="•"/>
            </a:pPr>
            <a:r>
              <a:rPr sz="1200" b="0" i="0">
                <a:solidFill>
                  <a:srgbClr val="0E2A2F"/>
                </a:solidFill>
              </a:rPr>
              <a:t>Fixed rules are easy for fraudsters to learn</a:t>
            </a:r>
          </a:p>
          <a:p>
            <a:pPr marL="182880" indent="-182880">
              <a:spcAft>
                <a:spcPts val="400"/>
              </a:spcAft>
              <a:buClr>
                <a:srgbClr val="026855"/>
              </a:buClr>
              <a:buChar char="•"/>
            </a:pPr>
            <a:r>
              <a:rPr sz="1200" b="0" i="0">
                <a:solidFill>
                  <a:srgbClr val="0E2A2F"/>
                </a:solidFill>
              </a:rPr>
              <a:t>Weak checks at account opening let fake or rented accounts in</a:t>
            </a:r>
          </a:p>
        </p:txBody>
      </p:sp>
      <p:sp>
        <p:nvSpPr>
          <p:cNvPr id="37" name="Arrow"/>
          <p:cNvSpPr/>
          <p:nvPr/>
        </p:nvSpPr>
        <p:spPr>
          <a:xfrm>
            <a:off x="7888223" y="3177540"/>
            <a:ext cx="292608" cy="274320"/>
          </a:xfrm>
          <a:prstGeom prst="rightArrow">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Card"/>
          <p:cNvSpPr/>
          <p:nvPr/>
        </p:nvSpPr>
        <p:spPr>
          <a:xfrm>
            <a:off x="8217408" y="2011680"/>
            <a:ext cx="3514344" cy="2606040"/>
          </a:xfrm>
          <a:prstGeom prst="roundRect">
            <a:avLst>
              <a:gd name="adj" fmla="val 4000"/>
            </a:avLst>
          </a:prstGeom>
          <a:solidFill>
            <a:srgbClr val="FFFFFF"/>
          </a:solidFill>
          <a:ln w="12700">
            <a:solidFill>
              <a:srgbClr val="B5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Icon circle"/>
          <p:cNvSpPr/>
          <p:nvPr/>
        </p:nvSpPr>
        <p:spPr>
          <a:xfrm>
            <a:off x="8381999" y="2148840"/>
            <a:ext cx="502920" cy="502920"/>
          </a:xfrm>
          <a:prstGeom prst="ellipse">
            <a:avLst/>
          </a:prstGeom>
          <a:solidFill>
            <a:srgbClr val="B5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Icon FaHeartBroken" descr="FaHeartBroken_w.png"/>
          <p:cNvPicPr>
            <a:picLocks noChangeAspect="1"/>
          </p:cNvPicPr>
          <p:nvPr/>
        </p:nvPicPr>
        <p:blipFill>
          <a:blip r:embed="rId7"/>
          <a:stretch>
            <a:fillRect/>
          </a:stretch>
        </p:blipFill>
        <p:spPr>
          <a:xfrm>
            <a:off x="8502700" y="2269540"/>
            <a:ext cx="261518" cy="261518"/>
          </a:xfrm>
          <a:prstGeom prst="rect">
            <a:avLst/>
          </a:prstGeom>
        </p:spPr>
      </p:pic>
      <p:sp>
        <p:nvSpPr>
          <p:cNvPr id="41" name="Card title"/>
          <p:cNvSpPr txBox="1"/>
          <p:nvPr/>
        </p:nvSpPr>
        <p:spPr>
          <a:xfrm>
            <a:off x="9022080" y="2121408"/>
            <a:ext cx="2599944" cy="566928"/>
          </a:xfrm>
          <a:prstGeom prst="rect">
            <a:avLst/>
          </a:prstGeom>
          <a:noFill/>
        </p:spPr>
        <p:txBody>
          <a:bodyPr wrap="square" lIns="0" tIns="0" rIns="0" bIns="0" anchor="ctr">
            <a:spAutoFit/>
          </a:bodyPr>
          <a:lstStyle/>
          <a:p>
            <a:pPr algn="l"/>
            <a:r>
              <a:rPr sz="1300" b="1" i="0">
                <a:solidFill>
                  <a:srgbClr val="094542"/>
                </a:solidFill>
              </a:rPr>
              <a:t>Consequences of leaving them unsolved</a:t>
            </a:r>
          </a:p>
        </p:txBody>
      </p:sp>
      <p:sp>
        <p:nvSpPr>
          <p:cNvPr id="42" name="Bullets"/>
          <p:cNvSpPr txBox="1"/>
          <p:nvPr/>
        </p:nvSpPr>
        <p:spPr>
          <a:xfrm>
            <a:off x="8418576" y="2816352"/>
            <a:ext cx="3130296" cy="1737360"/>
          </a:xfrm>
          <a:prstGeom prst="rect">
            <a:avLst/>
          </a:prstGeom>
          <a:noFill/>
        </p:spPr>
        <p:txBody>
          <a:bodyPr wrap="square" lIns="0" tIns="0" rIns="0" bIns="0">
            <a:spAutoFit/>
          </a:bodyPr>
          <a:lstStyle/>
          <a:p>
            <a:pPr marL="182880" indent="-182880">
              <a:spcAft>
                <a:spcPts val="400"/>
              </a:spcAft>
              <a:buClr>
                <a:srgbClr val="B53A2E"/>
              </a:buClr>
              <a:buChar char="•"/>
            </a:pPr>
            <a:r>
              <a:rPr sz="1200" b="0" i="0">
                <a:solidFill>
                  <a:srgbClr val="0E2A2F"/>
                </a:solidFill>
              </a:rPr>
              <a:t>Victims lose savings for good</a:t>
            </a:r>
          </a:p>
          <a:p>
            <a:pPr marL="182880" indent="-182880">
              <a:spcAft>
                <a:spcPts val="400"/>
              </a:spcAft>
              <a:buClr>
                <a:srgbClr val="B53A2E"/>
              </a:buClr>
              <a:buChar char="•"/>
            </a:pPr>
            <a:r>
              <a:rPr sz="1200" b="0" i="0">
                <a:solidFill>
                  <a:srgbClr val="0E2A2F"/>
                </a:solidFill>
              </a:rPr>
              <a:t>Genuine users and shops get frozen by mistake</a:t>
            </a:r>
          </a:p>
          <a:p>
            <a:pPr marL="182880" indent="-182880">
              <a:spcAft>
                <a:spcPts val="400"/>
              </a:spcAft>
              <a:buClr>
                <a:srgbClr val="B53A2E"/>
              </a:buClr>
              <a:buChar char="•"/>
            </a:pPr>
            <a:r>
              <a:rPr sz="1200" b="0" i="0">
                <a:solidFill>
                  <a:srgbClr val="0E2A2F"/>
                </a:solidFill>
              </a:rPr>
              <a:t>Banks face more losses and complaints</a:t>
            </a:r>
          </a:p>
          <a:p>
            <a:pPr marL="182880" indent="-182880">
              <a:spcAft>
                <a:spcPts val="400"/>
              </a:spcAft>
              <a:buClr>
                <a:srgbClr val="B53A2E"/>
              </a:buClr>
              <a:buChar char="•"/>
            </a:pPr>
            <a:r>
              <a:rPr sz="1200" b="0" i="0">
                <a:solidFill>
                  <a:srgbClr val="0E2A2F"/>
                </a:solidFill>
              </a:rPr>
              <a:t>People get scared of going digital</a:t>
            </a:r>
          </a:p>
        </p:txBody>
      </p:sp>
      <p:sp>
        <p:nvSpPr>
          <p:cNvPr id="43" name="Section title"/>
          <p:cNvSpPr txBox="1"/>
          <p:nvPr/>
        </p:nvSpPr>
        <p:spPr>
          <a:xfrm>
            <a:off x="457200" y="4754880"/>
            <a:ext cx="7315200" cy="274320"/>
          </a:xfrm>
          <a:prstGeom prst="rect">
            <a:avLst/>
          </a:prstGeom>
          <a:noFill/>
        </p:spPr>
        <p:txBody>
          <a:bodyPr wrap="square" lIns="0" tIns="0" rIns="0" bIns="0" anchor="t">
            <a:spAutoFit/>
          </a:bodyPr>
          <a:lstStyle/>
          <a:p>
            <a:pPr algn="l"/>
            <a:r>
              <a:rPr sz="1400" b="1" i="0">
                <a:solidFill>
                  <a:srgbClr val="094542"/>
                </a:solidFill>
              </a:rPr>
              <a:t>Why nobody catches it: each bank sees only its own box</a:t>
            </a:r>
          </a:p>
        </p:txBody>
      </p:sp>
      <p:sp>
        <p:nvSpPr>
          <p:cNvPr id="44" name="Icon circle"/>
          <p:cNvSpPr/>
          <p:nvPr/>
        </p:nvSpPr>
        <p:spPr>
          <a:xfrm>
            <a:off x="457200" y="5349240"/>
            <a:ext cx="566928" cy="566928"/>
          </a:xfrm>
          <a:prstGeom prst="ellipse">
            <a:avLst/>
          </a:prstGeom>
          <a:solidFill>
            <a:srgbClr val="B5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Icon FaMobileAlt" descr="FaMobileAlt_w.png"/>
          <p:cNvPicPr>
            <a:picLocks noChangeAspect="1"/>
          </p:cNvPicPr>
          <p:nvPr/>
        </p:nvPicPr>
        <p:blipFill>
          <a:blip r:embed="rId8"/>
          <a:stretch>
            <a:fillRect/>
          </a:stretch>
        </p:blipFill>
        <p:spPr>
          <a:xfrm>
            <a:off x="593262" y="5485302"/>
            <a:ext cx="294802" cy="294802"/>
          </a:xfrm>
          <a:prstGeom prst="rect">
            <a:avLst/>
          </a:prstGeom>
        </p:spPr>
      </p:pic>
      <p:sp>
        <p:nvSpPr>
          <p:cNvPr id="46" name="Label"/>
          <p:cNvSpPr txBox="1"/>
          <p:nvPr/>
        </p:nvSpPr>
        <p:spPr>
          <a:xfrm>
            <a:off x="365760" y="5943600"/>
            <a:ext cx="777240" cy="228600"/>
          </a:xfrm>
          <a:prstGeom prst="rect">
            <a:avLst/>
          </a:prstGeom>
          <a:noFill/>
        </p:spPr>
        <p:txBody>
          <a:bodyPr wrap="square" lIns="0" tIns="0" rIns="0" bIns="0" anchor="t">
            <a:spAutoFit/>
          </a:bodyPr>
          <a:lstStyle/>
          <a:p>
            <a:pPr algn="ctr"/>
            <a:r>
              <a:rPr sz="1100" b="1" i="0">
                <a:solidFill>
                  <a:srgbClr val="0E2A2F"/>
                </a:solidFill>
              </a:rPr>
              <a:t>Victim</a:t>
            </a:r>
          </a:p>
        </p:txBody>
      </p:sp>
      <p:sp>
        <p:nvSpPr>
          <p:cNvPr id="47" name="Bank view"/>
          <p:cNvSpPr/>
          <p:nvPr/>
        </p:nvSpPr>
        <p:spPr>
          <a:xfrm>
            <a:off x="2018537" y="5120640"/>
            <a:ext cx="2148840" cy="1051560"/>
          </a:xfrm>
          <a:prstGeom prst="roundRect">
            <a:avLst>
              <a:gd name="adj" fmla="val 8000"/>
            </a:avLst>
          </a:prstGeom>
          <a:solidFill>
            <a:srgbClr val="F3F8F5"/>
          </a:solidFill>
          <a:ln w="15875">
            <a:solidFill>
              <a:srgbClr val="5B6F6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Label"/>
          <p:cNvSpPr txBox="1"/>
          <p:nvPr/>
        </p:nvSpPr>
        <p:spPr>
          <a:xfrm>
            <a:off x="2109977" y="5184648"/>
            <a:ext cx="1965960" cy="201168"/>
          </a:xfrm>
          <a:prstGeom prst="rect">
            <a:avLst/>
          </a:prstGeom>
          <a:noFill/>
        </p:spPr>
        <p:txBody>
          <a:bodyPr wrap="square" lIns="0" tIns="0" rIns="0" bIns="0" anchor="t">
            <a:spAutoFit/>
          </a:bodyPr>
          <a:lstStyle/>
          <a:p>
            <a:pPr algn="ctr"/>
            <a:r>
              <a:rPr sz="1000" b="0" i="1">
                <a:solidFill>
                  <a:srgbClr val="5B6F6B"/>
                </a:solidFill>
              </a:rPr>
              <a:t>Bank A sees only this</a:t>
            </a:r>
          </a:p>
        </p:txBody>
      </p:sp>
      <p:sp>
        <p:nvSpPr>
          <p:cNvPr id="49" name="Node"/>
          <p:cNvSpPr/>
          <p:nvPr/>
        </p:nvSpPr>
        <p:spPr>
          <a:xfrm>
            <a:off x="2292857" y="5504688"/>
            <a:ext cx="1600200" cy="457200"/>
          </a:xfrm>
          <a:prstGeom prst="roundRect">
            <a:avLst>
              <a:gd name="adj" fmla="val 30000"/>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1100" b="1" i="0">
                <a:solidFill>
                  <a:srgbClr val="FFFFFF"/>
                </a:solidFill>
              </a:rPr>
              <a:t>Mule account 1</a:t>
            </a:r>
          </a:p>
        </p:txBody>
      </p:sp>
      <p:sp>
        <p:nvSpPr>
          <p:cNvPr id="50" name="Arrow"/>
          <p:cNvSpPr/>
          <p:nvPr/>
        </p:nvSpPr>
        <p:spPr>
          <a:xfrm>
            <a:off x="1097280" y="5577840"/>
            <a:ext cx="365760" cy="256032"/>
          </a:xfrm>
          <a:prstGeom prst="rightArrow">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Bank view"/>
          <p:cNvSpPr/>
          <p:nvPr/>
        </p:nvSpPr>
        <p:spPr>
          <a:xfrm>
            <a:off x="4539996" y="5120640"/>
            <a:ext cx="2148840" cy="1051560"/>
          </a:xfrm>
          <a:prstGeom prst="roundRect">
            <a:avLst>
              <a:gd name="adj" fmla="val 8000"/>
            </a:avLst>
          </a:prstGeom>
          <a:solidFill>
            <a:srgbClr val="F3F8F5"/>
          </a:solidFill>
          <a:ln w="15875">
            <a:solidFill>
              <a:srgbClr val="5B6F6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Label"/>
          <p:cNvSpPr txBox="1"/>
          <p:nvPr/>
        </p:nvSpPr>
        <p:spPr>
          <a:xfrm>
            <a:off x="4631436" y="5184648"/>
            <a:ext cx="1965960" cy="201168"/>
          </a:xfrm>
          <a:prstGeom prst="rect">
            <a:avLst/>
          </a:prstGeom>
          <a:noFill/>
        </p:spPr>
        <p:txBody>
          <a:bodyPr wrap="square" lIns="0" tIns="0" rIns="0" bIns="0" anchor="t">
            <a:spAutoFit/>
          </a:bodyPr>
          <a:lstStyle/>
          <a:p>
            <a:pPr algn="ctr"/>
            <a:r>
              <a:rPr sz="1000" b="0" i="1">
                <a:solidFill>
                  <a:srgbClr val="5B6F6B"/>
                </a:solidFill>
              </a:rPr>
              <a:t>Bank B sees only this</a:t>
            </a:r>
          </a:p>
        </p:txBody>
      </p:sp>
      <p:sp>
        <p:nvSpPr>
          <p:cNvPr id="53" name="Node"/>
          <p:cNvSpPr/>
          <p:nvPr/>
        </p:nvSpPr>
        <p:spPr>
          <a:xfrm>
            <a:off x="4814316" y="5504688"/>
            <a:ext cx="1600200" cy="457200"/>
          </a:xfrm>
          <a:prstGeom prst="roundRect">
            <a:avLst>
              <a:gd name="adj" fmla="val 30000"/>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1100" b="1" i="0">
                <a:solidFill>
                  <a:srgbClr val="FFFFFF"/>
                </a:solidFill>
              </a:rPr>
              <a:t>Mule account 2</a:t>
            </a:r>
          </a:p>
        </p:txBody>
      </p:sp>
      <p:sp>
        <p:nvSpPr>
          <p:cNvPr id="54" name="Arrow"/>
          <p:cNvSpPr/>
          <p:nvPr/>
        </p:nvSpPr>
        <p:spPr>
          <a:xfrm>
            <a:off x="4243959" y="5577840"/>
            <a:ext cx="274320" cy="256032"/>
          </a:xfrm>
          <a:prstGeom prst="rightArrow">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Bank view"/>
          <p:cNvSpPr/>
          <p:nvPr/>
        </p:nvSpPr>
        <p:spPr>
          <a:xfrm>
            <a:off x="7061453" y="5120640"/>
            <a:ext cx="2148840" cy="1051560"/>
          </a:xfrm>
          <a:prstGeom prst="roundRect">
            <a:avLst>
              <a:gd name="adj" fmla="val 8000"/>
            </a:avLst>
          </a:prstGeom>
          <a:solidFill>
            <a:srgbClr val="F3F8F5"/>
          </a:solidFill>
          <a:ln w="15875">
            <a:solidFill>
              <a:srgbClr val="5B6F6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Label"/>
          <p:cNvSpPr txBox="1"/>
          <p:nvPr/>
        </p:nvSpPr>
        <p:spPr>
          <a:xfrm>
            <a:off x="7152893" y="5184648"/>
            <a:ext cx="1965960" cy="201168"/>
          </a:xfrm>
          <a:prstGeom prst="rect">
            <a:avLst/>
          </a:prstGeom>
          <a:noFill/>
        </p:spPr>
        <p:txBody>
          <a:bodyPr wrap="square" lIns="0" tIns="0" rIns="0" bIns="0" anchor="t">
            <a:spAutoFit/>
          </a:bodyPr>
          <a:lstStyle/>
          <a:p>
            <a:pPr algn="ctr"/>
            <a:r>
              <a:rPr sz="1000" b="0" i="1">
                <a:solidFill>
                  <a:srgbClr val="5B6F6B"/>
                </a:solidFill>
              </a:rPr>
              <a:t>Bank C sees only this</a:t>
            </a:r>
          </a:p>
        </p:txBody>
      </p:sp>
      <p:sp>
        <p:nvSpPr>
          <p:cNvPr id="57" name="Node"/>
          <p:cNvSpPr/>
          <p:nvPr/>
        </p:nvSpPr>
        <p:spPr>
          <a:xfrm>
            <a:off x="7335773" y="5504688"/>
            <a:ext cx="1600200" cy="457200"/>
          </a:xfrm>
          <a:prstGeom prst="roundRect">
            <a:avLst>
              <a:gd name="adj" fmla="val 30000"/>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1100" b="1" i="0">
                <a:solidFill>
                  <a:srgbClr val="FFFFFF"/>
                </a:solidFill>
              </a:rPr>
              <a:t>Mule account 3</a:t>
            </a:r>
          </a:p>
        </p:txBody>
      </p:sp>
      <p:sp>
        <p:nvSpPr>
          <p:cNvPr id="58" name="Arrow"/>
          <p:cNvSpPr/>
          <p:nvPr/>
        </p:nvSpPr>
        <p:spPr>
          <a:xfrm>
            <a:off x="6765416" y="5577840"/>
            <a:ext cx="274320" cy="256032"/>
          </a:xfrm>
          <a:prstGeom prst="rightArrow">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Bank view"/>
          <p:cNvSpPr/>
          <p:nvPr/>
        </p:nvSpPr>
        <p:spPr>
          <a:xfrm>
            <a:off x="9582912" y="5120640"/>
            <a:ext cx="2148840" cy="1051560"/>
          </a:xfrm>
          <a:prstGeom prst="roundRect">
            <a:avLst>
              <a:gd name="adj" fmla="val 8000"/>
            </a:avLst>
          </a:prstGeom>
          <a:solidFill>
            <a:srgbClr val="F3F8F5"/>
          </a:solidFill>
          <a:ln w="15875">
            <a:solidFill>
              <a:srgbClr val="5B6F6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Label"/>
          <p:cNvSpPr txBox="1"/>
          <p:nvPr/>
        </p:nvSpPr>
        <p:spPr>
          <a:xfrm>
            <a:off x="9674352" y="5184648"/>
            <a:ext cx="1965960" cy="201168"/>
          </a:xfrm>
          <a:prstGeom prst="rect">
            <a:avLst/>
          </a:prstGeom>
          <a:noFill/>
        </p:spPr>
        <p:txBody>
          <a:bodyPr wrap="square" lIns="0" tIns="0" rIns="0" bIns="0" anchor="t">
            <a:spAutoFit/>
          </a:bodyPr>
          <a:lstStyle/>
          <a:p>
            <a:pPr algn="ctr"/>
            <a:r>
              <a:rPr sz="1000" b="0" i="1">
                <a:solidFill>
                  <a:srgbClr val="5B6F6B"/>
                </a:solidFill>
              </a:rPr>
              <a:t>Bank D sees only this</a:t>
            </a:r>
          </a:p>
        </p:txBody>
      </p:sp>
      <p:sp>
        <p:nvSpPr>
          <p:cNvPr id="61" name="Node"/>
          <p:cNvSpPr/>
          <p:nvPr/>
        </p:nvSpPr>
        <p:spPr>
          <a:xfrm>
            <a:off x="9857232" y="5504688"/>
            <a:ext cx="1600200" cy="457200"/>
          </a:xfrm>
          <a:prstGeom prst="roundRect">
            <a:avLst>
              <a:gd name="adj" fmla="val 30000"/>
            </a:avLst>
          </a:prstGeom>
          <a:solidFill>
            <a:srgbClr val="7AC143"/>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1100" b="1" i="0">
                <a:solidFill>
                  <a:srgbClr val="0E2A2F"/>
                </a:solidFill>
              </a:rPr>
              <a:t>Cash-out</a:t>
            </a:r>
          </a:p>
        </p:txBody>
      </p:sp>
      <p:sp>
        <p:nvSpPr>
          <p:cNvPr id="62" name="Arrow"/>
          <p:cNvSpPr/>
          <p:nvPr/>
        </p:nvSpPr>
        <p:spPr>
          <a:xfrm>
            <a:off x="9286875" y="5577840"/>
            <a:ext cx="274320" cy="256032"/>
          </a:xfrm>
          <a:prstGeom prst="rightArrow">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Dark Mod Devs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
        <p:nvSpPr>
          <p:cNvPr id="26" name="Column title"/>
          <p:cNvSpPr txBox="1"/>
          <p:nvPr/>
        </p:nvSpPr>
        <p:spPr>
          <a:xfrm>
            <a:off x="457200" y="1965960"/>
            <a:ext cx="4023360" cy="274320"/>
          </a:xfrm>
          <a:prstGeom prst="rect">
            <a:avLst/>
          </a:prstGeom>
          <a:noFill/>
        </p:spPr>
        <p:txBody>
          <a:bodyPr wrap="square" lIns="0" tIns="0" rIns="0" bIns="0" anchor="t">
            <a:spAutoFit/>
          </a:bodyPr>
          <a:lstStyle/>
          <a:p>
            <a:pPr algn="l"/>
            <a:r>
              <a:rPr sz="1300" b="1" i="0">
                <a:solidFill>
                  <a:srgbClr val="094542"/>
                </a:solidFill>
              </a:rPr>
              <a:t>Existing methods, systems or alternatives</a:t>
            </a:r>
          </a:p>
        </p:txBody>
      </p:sp>
      <p:sp>
        <p:nvSpPr>
          <p:cNvPr id="27" name="Column title"/>
          <p:cNvSpPr txBox="1"/>
          <p:nvPr/>
        </p:nvSpPr>
        <p:spPr>
          <a:xfrm>
            <a:off x="4617720" y="1965960"/>
            <a:ext cx="7114031" cy="274320"/>
          </a:xfrm>
          <a:prstGeom prst="rect">
            <a:avLst/>
          </a:prstGeom>
          <a:noFill/>
        </p:spPr>
        <p:txBody>
          <a:bodyPr wrap="square" lIns="0" tIns="0" rIns="0" bIns="0" anchor="t">
            <a:spAutoFit/>
          </a:bodyPr>
          <a:lstStyle/>
          <a:p>
            <a:pPr algn="l"/>
            <a:r>
              <a:rPr sz="1300" b="1" i="0">
                <a:solidFill>
                  <a:srgbClr val="094542"/>
                </a:solidFill>
              </a:rPr>
              <a:t>Limitations of each</a:t>
            </a:r>
          </a:p>
        </p:txBody>
      </p:sp>
      <p:sp>
        <p:nvSpPr>
          <p:cNvPr id="28" name="Method"/>
          <p:cNvSpPr/>
          <p:nvPr/>
        </p:nvSpPr>
        <p:spPr>
          <a:xfrm>
            <a:off x="457200" y="2331720"/>
            <a:ext cx="4023360" cy="566928"/>
          </a:xfrm>
          <a:prstGeom prst="roundRect">
            <a:avLst>
              <a:gd name="adj" fmla="val 12000"/>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Icon circle"/>
          <p:cNvSpPr/>
          <p:nvPr/>
        </p:nvSpPr>
        <p:spPr>
          <a:xfrm>
            <a:off x="566928" y="2414015"/>
            <a:ext cx="402336" cy="402336"/>
          </a:xfrm>
          <a:prstGeom prst="ellipse">
            <a:avLst/>
          </a:prstGeom>
          <a:solidFill>
            <a:srgbClr val="094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on FaListUl" descr="FaListUl_w.png"/>
          <p:cNvPicPr>
            <a:picLocks noChangeAspect="1"/>
          </p:cNvPicPr>
          <p:nvPr/>
        </p:nvPicPr>
        <p:blipFill>
          <a:blip r:embed="rId5"/>
          <a:stretch>
            <a:fillRect/>
          </a:stretch>
        </p:blipFill>
        <p:spPr>
          <a:xfrm>
            <a:off x="667512" y="2514599"/>
            <a:ext cx="201168" cy="201168"/>
          </a:xfrm>
          <a:prstGeom prst="rect">
            <a:avLst/>
          </a:prstGeom>
        </p:spPr>
      </p:pic>
      <p:sp>
        <p:nvSpPr>
          <p:cNvPr id="31" name="Method name"/>
          <p:cNvSpPr txBox="1"/>
          <p:nvPr/>
        </p:nvSpPr>
        <p:spPr>
          <a:xfrm>
            <a:off x="1097280" y="2331720"/>
            <a:ext cx="3291840" cy="566928"/>
          </a:xfrm>
          <a:prstGeom prst="rect">
            <a:avLst/>
          </a:prstGeom>
          <a:noFill/>
        </p:spPr>
        <p:txBody>
          <a:bodyPr wrap="square" lIns="0" tIns="0" rIns="0" bIns="0" anchor="ctr">
            <a:spAutoFit/>
          </a:bodyPr>
          <a:lstStyle/>
          <a:p>
            <a:pPr algn="l"/>
            <a:r>
              <a:rPr sz="1300" b="1" i="0">
                <a:solidFill>
                  <a:srgbClr val="FFFFFF"/>
                </a:solidFill>
              </a:rPr>
              <a:t>Bank rule-based fraud checks</a:t>
            </a:r>
          </a:p>
        </p:txBody>
      </p:sp>
      <p:sp>
        <p:nvSpPr>
          <p:cNvPr id="32" name="Limitation"/>
          <p:cNvSpPr/>
          <p:nvPr/>
        </p:nvSpPr>
        <p:spPr>
          <a:xfrm>
            <a:off x="4617720" y="2331720"/>
            <a:ext cx="7114031" cy="566928"/>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Limitation text"/>
          <p:cNvSpPr txBox="1"/>
          <p:nvPr/>
        </p:nvSpPr>
        <p:spPr>
          <a:xfrm>
            <a:off x="4800600" y="2331720"/>
            <a:ext cx="6748271" cy="566928"/>
          </a:xfrm>
          <a:prstGeom prst="rect">
            <a:avLst/>
          </a:prstGeom>
          <a:noFill/>
        </p:spPr>
        <p:txBody>
          <a:bodyPr wrap="square" lIns="0" tIns="0" rIns="0" bIns="0" anchor="ctr">
            <a:spAutoFit/>
          </a:bodyPr>
          <a:lstStyle/>
          <a:p>
            <a:pPr algn="l"/>
            <a:r>
              <a:rPr sz="1200" b="0" i="0">
                <a:solidFill>
                  <a:srgbClr val="0E2A2F"/>
                </a:solidFill>
              </a:rPr>
              <a:t>Fixed rules, many false alerts, and each bank sees only its own accounts</a:t>
            </a:r>
          </a:p>
        </p:txBody>
      </p:sp>
      <p:sp>
        <p:nvSpPr>
          <p:cNvPr id="34" name="Method"/>
          <p:cNvSpPr/>
          <p:nvPr/>
        </p:nvSpPr>
        <p:spPr>
          <a:xfrm>
            <a:off x="457200" y="2980944"/>
            <a:ext cx="4023360" cy="566928"/>
          </a:xfrm>
          <a:prstGeom prst="roundRect">
            <a:avLst>
              <a:gd name="adj" fmla="val 12000"/>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Icon circle"/>
          <p:cNvSpPr/>
          <p:nvPr/>
        </p:nvSpPr>
        <p:spPr>
          <a:xfrm>
            <a:off x="566928" y="3063239"/>
            <a:ext cx="402336" cy="402336"/>
          </a:xfrm>
          <a:prstGeom prst="ellipse">
            <a:avLst/>
          </a:prstGeom>
          <a:solidFill>
            <a:srgbClr val="094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Icon FaPhoneAlt" descr="FaPhoneAlt_w.png"/>
          <p:cNvPicPr>
            <a:picLocks noChangeAspect="1"/>
          </p:cNvPicPr>
          <p:nvPr/>
        </p:nvPicPr>
        <p:blipFill>
          <a:blip r:embed="rId6"/>
          <a:stretch>
            <a:fillRect/>
          </a:stretch>
        </p:blipFill>
        <p:spPr>
          <a:xfrm>
            <a:off x="667512" y="3163823"/>
            <a:ext cx="201168" cy="201168"/>
          </a:xfrm>
          <a:prstGeom prst="rect">
            <a:avLst/>
          </a:prstGeom>
        </p:spPr>
      </p:pic>
      <p:sp>
        <p:nvSpPr>
          <p:cNvPr id="37" name="Method name"/>
          <p:cNvSpPr txBox="1"/>
          <p:nvPr/>
        </p:nvSpPr>
        <p:spPr>
          <a:xfrm>
            <a:off x="1097280" y="2980944"/>
            <a:ext cx="3291840" cy="566928"/>
          </a:xfrm>
          <a:prstGeom prst="rect">
            <a:avLst/>
          </a:prstGeom>
          <a:noFill/>
        </p:spPr>
        <p:txBody>
          <a:bodyPr wrap="square" lIns="0" tIns="0" rIns="0" bIns="0" anchor="ctr">
            <a:spAutoFit/>
          </a:bodyPr>
          <a:lstStyle/>
          <a:p>
            <a:pPr algn="l"/>
            <a:r>
              <a:rPr sz="1300" b="1" i="0">
                <a:solidFill>
                  <a:srgbClr val="FFFFFF"/>
                </a:solidFill>
              </a:rPr>
              <a:t>1930 helpline + CFCFRMS</a:t>
            </a:r>
          </a:p>
        </p:txBody>
      </p:sp>
      <p:sp>
        <p:nvSpPr>
          <p:cNvPr id="38" name="Limitation"/>
          <p:cNvSpPr/>
          <p:nvPr/>
        </p:nvSpPr>
        <p:spPr>
          <a:xfrm>
            <a:off x="4617720" y="2980944"/>
            <a:ext cx="7114031" cy="566928"/>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Limitation text"/>
          <p:cNvSpPr txBox="1"/>
          <p:nvPr/>
        </p:nvSpPr>
        <p:spPr>
          <a:xfrm>
            <a:off x="4800600" y="2980944"/>
            <a:ext cx="6748271" cy="566928"/>
          </a:xfrm>
          <a:prstGeom prst="rect">
            <a:avLst/>
          </a:prstGeom>
          <a:noFill/>
        </p:spPr>
        <p:txBody>
          <a:bodyPr wrap="square" lIns="0" tIns="0" rIns="0" bIns="0" anchor="ctr">
            <a:spAutoFit/>
          </a:bodyPr>
          <a:lstStyle/>
          <a:p>
            <a:pPr algn="l"/>
            <a:r>
              <a:rPr sz="1200" b="0" i="0">
                <a:solidFill>
                  <a:srgbClr val="0E2A2F"/>
                </a:solidFill>
              </a:rPr>
              <a:t>Starts only after the victim reports, and holds are placed bank by bank, which takes time</a:t>
            </a:r>
          </a:p>
        </p:txBody>
      </p:sp>
      <p:sp>
        <p:nvSpPr>
          <p:cNvPr id="40" name="Method"/>
          <p:cNvSpPr/>
          <p:nvPr/>
        </p:nvSpPr>
        <p:spPr>
          <a:xfrm>
            <a:off x="457200" y="3630168"/>
            <a:ext cx="4023360" cy="566928"/>
          </a:xfrm>
          <a:prstGeom prst="roundRect">
            <a:avLst>
              <a:gd name="adj" fmla="val 12000"/>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Icon circle"/>
          <p:cNvSpPr/>
          <p:nvPr/>
        </p:nvSpPr>
        <p:spPr>
          <a:xfrm>
            <a:off x="566928" y="3712463"/>
            <a:ext cx="402336" cy="402336"/>
          </a:xfrm>
          <a:prstGeom prst="ellipse">
            <a:avLst/>
          </a:prstGeom>
          <a:solidFill>
            <a:srgbClr val="094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Icon FaClipboardList" descr="FaClipboardList_w.png"/>
          <p:cNvPicPr>
            <a:picLocks noChangeAspect="1"/>
          </p:cNvPicPr>
          <p:nvPr/>
        </p:nvPicPr>
        <p:blipFill>
          <a:blip r:embed="rId7"/>
          <a:stretch>
            <a:fillRect/>
          </a:stretch>
        </p:blipFill>
        <p:spPr>
          <a:xfrm>
            <a:off x="667512" y="3813048"/>
            <a:ext cx="201168" cy="201168"/>
          </a:xfrm>
          <a:prstGeom prst="rect">
            <a:avLst/>
          </a:prstGeom>
        </p:spPr>
      </p:pic>
      <p:sp>
        <p:nvSpPr>
          <p:cNvPr id="43" name="Method name"/>
          <p:cNvSpPr txBox="1"/>
          <p:nvPr/>
        </p:nvSpPr>
        <p:spPr>
          <a:xfrm>
            <a:off x="1097280" y="3630168"/>
            <a:ext cx="3291840" cy="566928"/>
          </a:xfrm>
          <a:prstGeom prst="rect">
            <a:avLst/>
          </a:prstGeom>
          <a:noFill/>
        </p:spPr>
        <p:txBody>
          <a:bodyPr wrap="square" lIns="0" tIns="0" rIns="0" bIns="0" anchor="ctr">
            <a:spAutoFit/>
          </a:bodyPr>
          <a:lstStyle/>
          <a:p>
            <a:pPr algn="l"/>
            <a:r>
              <a:rPr sz="1300" b="1" i="0">
                <a:solidFill>
                  <a:srgbClr val="FFFFFF"/>
                </a:solidFill>
              </a:rPr>
              <a:t>I4C Suspect Registry (Sep 2024)</a:t>
            </a:r>
          </a:p>
        </p:txBody>
      </p:sp>
      <p:sp>
        <p:nvSpPr>
          <p:cNvPr id="44" name="Limitation"/>
          <p:cNvSpPr/>
          <p:nvPr/>
        </p:nvSpPr>
        <p:spPr>
          <a:xfrm>
            <a:off x="4617720" y="3630168"/>
            <a:ext cx="7114031" cy="566928"/>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Limitation text"/>
          <p:cNvSpPr txBox="1"/>
          <p:nvPr/>
        </p:nvSpPr>
        <p:spPr>
          <a:xfrm>
            <a:off x="4800600" y="3630168"/>
            <a:ext cx="6748271" cy="566928"/>
          </a:xfrm>
          <a:prstGeom prst="rect">
            <a:avLst/>
          </a:prstGeom>
          <a:noFill/>
        </p:spPr>
        <p:txBody>
          <a:bodyPr wrap="square" lIns="0" tIns="0" rIns="0" bIns="0" anchor="ctr">
            <a:spAutoFit/>
          </a:bodyPr>
          <a:lstStyle/>
          <a:p>
            <a:pPr algn="l"/>
            <a:r>
              <a:rPr sz="1200" b="0" i="0">
                <a:solidFill>
                  <a:srgbClr val="0E2A2F"/>
                </a:solidFill>
              </a:rPr>
              <a:t>Works on identifiers already known to be bad, so brand new mule accounts slip through</a:t>
            </a:r>
          </a:p>
        </p:txBody>
      </p:sp>
      <p:sp>
        <p:nvSpPr>
          <p:cNvPr id="46" name="Method"/>
          <p:cNvSpPr/>
          <p:nvPr/>
        </p:nvSpPr>
        <p:spPr>
          <a:xfrm>
            <a:off x="457200" y="4279392"/>
            <a:ext cx="4023360" cy="868680"/>
          </a:xfrm>
          <a:prstGeom prst="roundRect">
            <a:avLst>
              <a:gd name="adj" fmla="val 12000"/>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Icon circle"/>
          <p:cNvSpPr/>
          <p:nvPr/>
        </p:nvSpPr>
        <p:spPr>
          <a:xfrm>
            <a:off x="566928" y="4512564"/>
            <a:ext cx="402336" cy="402336"/>
          </a:xfrm>
          <a:prstGeom prst="ellipse">
            <a:avLst/>
          </a:prstGeom>
          <a:solidFill>
            <a:srgbClr val="094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Icon FaRobot" descr="FaRobot_w.png"/>
          <p:cNvPicPr>
            <a:picLocks noChangeAspect="1"/>
          </p:cNvPicPr>
          <p:nvPr/>
        </p:nvPicPr>
        <p:blipFill>
          <a:blip r:embed="rId8"/>
          <a:stretch>
            <a:fillRect/>
          </a:stretch>
        </p:blipFill>
        <p:spPr>
          <a:xfrm>
            <a:off x="667512" y="4613148"/>
            <a:ext cx="201168" cy="201168"/>
          </a:xfrm>
          <a:prstGeom prst="rect">
            <a:avLst/>
          </a:prstGeom>
        </p:spPr>
      </p:pic>
      <p:sp>
        <p:nvSpPr>
          <p:cNvPr id="49" name="Method name"/>
          <p:cNvSpPr txBox="1"/>
          <p:nvPr/>
        </p:nvSpPr>
        <p:spPr>
          <a:xfrm>
            <a:off x="1097280" y="4279392"/>
            <a:ext cx="3291840" cy="868680"/>
          </a:xfrm>
          <a:prstGeom prst="rect">
            <a:avLst/>
          </a:prstGeom>
          <a:noFill/>
        </p:spPr>
        <p:txBody>
          <a:bodyPr wrap="square" lIns="0" tIns="0" rIns="0" bIns="0" anchor="ctr">
            <a:spAutoFit/>
          </a:bodyPr>
          <a:lstStyle/>
          <a:p>
            <a:pPr algn="l"/>
            <a:r>
              <a:rPr sz="1300" b="1" i="0">
                <a:solidFill>
                  <a:srgbClr val="FFFFFF"/>
                </a:solidFill>
              </a:rPr>
              <a:t>RBI MuleHunter.AI (Dec 2024)</a:t>
            </a:r>
          </a:p>
        </p:txBody>
      </p:sp>
      <p:sp>
        <p:nvSpPr>
          <p:cNvPr id="50" name="Limitation"/>
          <p:cNvSpPr/>
          <p:nvPr/>
        </p:nvSpPr>
        <p:spPr>
          <a:xfrm>
            <a:off x="4617720" y="4279392"/>
            <a:ext cx="7114031" cy="868680"/>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Limitation text"/>
          <p:cNvSpPr txBox="1"/>
          <p:nvPr/>
        </p:nvSpPr>
        <p:spPr>
          <a:xfrm>
            <a:off x="4800600" y="4279392"/>
            <a:ext cx="6748271" cy="868680"/>
          </a:xfrm>
          <a:prstGeom prst="rect">
            <a:avLst/>
          </a:prstGeom>
          <a:noFill/>
        </p:spPr>
        <p:txBody>
          <a:bodyPr wrap="square" lIns="0" tIns="0" rIns="0" bIns="0" anchor="ctr">
            <a:spAutoFit/>
          </a:bodyPr>
          <a:lstStyle/>
          <a:p>
            <a:pPr algn="l"/>
            <a:r>
              <a:rPr sz="1200" b="0" i="0">
                <a:solidFill>
                  <a:srgbClr val="0E2A2F"/>
                </a:solidFill>
              </a:rPr>
              <a:t>Strong at flagging single accounts (Canara Bank reported 95% accuracy, nearly 20 banks by Nov 2025). As far as public information shows, it does not follow a live chain across banks and hold it</a:t>
            </a:r>
          </a:p>
        </p:txBody>
      </p:sp>
      <p:sp>
        <p:nvSpPr>
          <p:cNvPr id="52" name="Gap banner"/>
          <p:cNvSpPr/>
          <p:nvPr/>
        </p:nvSpPr>
        <p:spPr>
          <a:xfrm>
            <a:off x="457200" y="5340096"/>
            <a:ext cx="11274552" cy="868680"/>
          </a:xfrm>
          <a:prstGeom prst="roundRect">
            <a:avLst>
              <a:gd name="adj" fmla="val 10000"/>
            </a:avLst>
          </a:prstGeom>
          <a:solidFill>
            <a:srgbClr val="094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Accent bar"/>
          <p:cNvSpPr/>
          <p:nvPr/>
        </p:nvSpPr>
        <p:spPr>
          <a:xfrm>
            <a:off x="457200" y="5449824"/>
            <a:ext cx="82296" cy="649224"/>
          </a:xfrm>
          <a:prstGeom prst="rect">
            <a:avLst/>
          </a:prstGeom>
          <a:solidFill>
            <a:srgbClr val="7AC1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Gap label"/>
          <p:cNvSpPr txBox="1"/>
          <p:nvPr/>
        </p:nvSpPr>
        <p:spPr>
          <a:xfrm>
            <a:off x="777240" y="5431536"/>
            <a:ext cx="10725912" cy="228600"/>
          </a:xfrm>
          <a:prstGeom prst="rect">
            <a:avLst/>
          </a:prstGeom>
          <a:noFill/>
        </p:spPr>
        <p:txBody>
          <a:bodyPr wrap="square" lIns="0" tIns="0" rIns="0" bIns="0" anchor="t">
            <a:spAutoFit/>
          </a:bodyPr>
          <a:lstStyle/>
          <a:p>
            <a:pPr algn="l"/>
            <a:r>
              <a:rPr sz="1000" b="1" i="0">
                <a:solidFill>
                  <a:srgbClr val="7AC143"/>
                </a:solidFill>
              </a:rPr>
              <a:t>THE GAP THEY LEAVE OPEN (KEY CHALLENGES)</a:t>
            </a:r>
          </a:p>
        </p:txBody>
      </p:sp>
      <p:sp>
        <p:nvSpPr>
          <p:cNvPr id="55" name="Gap text"/>
          <p:cNvSpPr txBox="1"/>
          <p:nvPr/>
        </p:nvSpPr>
        <p:spPr>
          <a:xfrm>
            <a:off x="777240" y="5687568"/>
            <a:ext cx="10725912" cy="457200"/>
          </a:xfrm>
          <a:prstGeom prst="rect">
            <a:avLst/>
          </a:prstGeom>
          <a:noFill/>
        </p:spPr>
        <p:txBody>
          <a:bodyPr wrap="square" lIns="0" tIns="0" rIns="0" bIns="0" anchor="t">
            <a:spAutoFit/>
          </a:bodyPr>
          <a:lstStyle/>
          <a:p>
            <a:pPr algn="l"/>
            <a:r>
              <a:rPr sz="1500" b="1" i="0">
                <a:solidFill>
                  <a:srgbClr val="FFFFFF"/>
                </a:solidFill>
              </a:rPr>
              <a:t>Nobody connects accounts across banks in real time and acts on the whole chain with a soft, reversible step.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Dark Mod Devs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
        <p:nvSpPr>
          <p:cNvPr id="26" name="Card"/>
          <p:cNvSpPr/>
          <p:nvPr/>
        </p:nvSpPr>
        <p:spPr>
          <a:xfrm>
            <a:off x="457200" y="2057400"/>
            <a:ext cx="3605784" cy="3611880"/>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Icon circle"/>
          <p:cNvSpPr/>
          <p:nvPr/>
        </p:nvSpPr>
        <p:spPr>
          <a:xfrm>
            <a:off x="621792" y="2194560"/>
            <a:ext cx="502920" cy="502920"/>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FaServer" descr="FaServer_w.png"/>
          <p:cNvPicPr>
            <a:picLocks noChangeAspect="1"/>
          </p:cNvPicPr>
          <p:nvPr/>
        </p:nvPicPr>
        <p:blipFill>
          <a:blip r:embed="rId5"/>
          <a:stretch>
            <a:fillRect/>
          </a:stretch>
        </p:blipFill>
        <p:spPr>
          <a:xfrm>
            <a:off x="742492" y="2315260"/>
            <a:ext cx="261518" cy="261518"/>
          </a:xfrm>
          <a:prstGeom prst="rect">
            <a:avLst/>
          </a:prstGeom>
        </p:spPr>
      </p:pic>
      <p:sp>
        <p:nvSpPr>
          <p:cNvPr id="29" name="Card title"/>
          <p:cNvSpPr txBox="1"/>
          <p:nvPr/>
        </p:nvSpPr>
        <p:spPr>
          <a:xfrm>
            <a:off x="1261872" y="2167128"/>
            <a:ext cx="2691384" cy="566928"/>
          </a:xfrm>
          <a:prstGeom prst="rect">
            <a:avLst/>
          </a:prstGeom>
          <a:noFill/>
        </p:spPr>
        <p:txBody>
          <a:bodyPr wrap="square" lIns="0" tIns="0" rIns="0" bIns="0" anchor="ctr">
            <a:spAutoFit/>
          </a:bodyPr>
          <a:lstStyle/>
          <a:p>
            <a:pPr algn="l"/>
            <a:r>
              <a:rPr sz="1300" b="1" i="0">
                <a:solidFill>
                  <a:srgbClr val="094542"/>
                </a:solidFill>
              </a:rPr>
              <a:t>Hardware Requirements</a:t>
            </a:r>
          </a:p>
        </p:txBody>
      </p:sp>
      <p:sp>
        <p:nvSpPr>
          <p:cNvPr id="30" name="Divider"/>
          <p:cNvSpPr/>
          <p:nvPr/>
        </p:nvSpPr>
        <p:spPr>
          <a:xfrm>
            <a:off x="640080" y="2880360"/>
            <a:ext cx="3240024" cy="18288"/>
          </a:xfrm>
          <a:prstGeom prst="rect">
            <a:avLst/>
          </a:prstGeom>
          <a:solidFill>
            <a:srgbClr val="D3E6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ard"/>
          <p:cNvSpPr/>
          <p:nvPr/>
        </p:nvSpPr>
        <p:spPr>
          <a:xfrm>
            <a:off x="4291584" y="2057400"/>
            <a:ext cx="3605784" cy="3611880"/>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con circle"/>
          <p:cNvSpPr/>
          <p:nvPr/>
        </p:nvSpPr>
        <p:spPr>
          <a:xfrm>
            <a:off x="4456176" y="2194560"/>
            <a:ext cx="502920" cy="502920"/>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con FaCode" descr="FaCode_w.png"/>
          <p:cNvPicPr>
            <a:picLocks noChangeAspect="1"/>
          </p:cNvPicPr>
          <p:nvPr/>
        </p:nvPicPr>
        <p:blipFill>
          <a:blip r:embed="rId6"/>
          <a:stretch>
            <a:fillRect/>
          </a:stretch>
        </p:blipFill>
        <p:spPr>
          <a:xfrm>
            <a:off x="4576876" y="2315260"/>
            <a:ext cx="261518" cy="261518"/>
          </a:xfrm>
          <a:prstGeom prst="rect">
            <a:avLst/>
          </a:prstGeom>
        </p:spPr>
      </p:pic>
      <p:sp>
        <p:nvSpPr>
          <p:cNvPr id="34" name="Card title"/>
          <p:cNvSpPr txBox="1"/>
          <p:nvPr/>
        </p:nvSpPr>
        <p:spPr>
          <a:xfrm>
            <a:off x="5096256" y="2167128"/>
            <a:ext cx="2691384" cy="566928"/>
          </a:xfrm>
          <a:prstGeom prst="rect">
            <a:avLst/>
          </a:prstGeom>
          <a:noFill/>
        </p:spPr>
        <p:txBody>
          <a:bodyPr wrap="square" lIns="0" tIns="0" rIns="0" bIns="0" anchor="ctr">
            <a:spAutoFit/>
          </a:bodyPr>
          <a:lstStyle/>
          <a:p>
            <a:pPr algn="l"/>
            <a:r>
              <a:rPr sz="1300" b="1" i="0">
                <a:solidFill>
                  <a:srgbClr val="094542"/>
                </a:solidFill>
              </a:rPr>
              <a:t>Software Requirements</a:t>
            </a:r>
          </a:p>
        </p:txBody>
      </p:sp>
      <p:sp>
        <p:nvSpPr>
          <p:cNvPr id="35" name="Divider"/>
          <p:cNvSpPr/>
          <p:nvPr/>
        </p:nvSpPr>
        <p:spPr>
          <a:xfrm>
            <a:off x="4474464" y="2880360"/>
            <a:ext cx="3240024" cy="18288"/>
          </a:xfrm>
          <a:prstGeom prst="rect">
            <a:avLst/>
          </a:prstGeom>
          <a:solidFill>
            <a:srgbClr val="D3E6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Card"/>
          <p:cNvSpPr/>
          <p:nvPr/>
        </p:nvSpPr>
        <p:spPr>
          <a:xfrm>
            <a:off x="8125968" y="2057400"/>
            <a:ext cx="3605784" cy="3611880"/>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Icon circle"/>
          <p:cNvSpPr/>
          <p:nvPr/>
        </p:nvSpPr>
        <p:spPr>
          <a:xfrm>
            <a:off x="8290560" y="2194560"/>
            <a:ext cx="502920" cy="502920"/>
          </a:xfrm>
          <a:prstGeom prst="ellipse">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Icon FaUsers" descr="FaUsers_w.png"/>
          <p:cNvPicPr>
            <a:picLocks noChangeAspect="1"/>
          </p:cNvPicPr>
          <p:nvPr/>
        </p:nvPicPr>
        <p:blipFill>
          <a:blip r:embed="rId7"/>
          <a:stretch>
            <a:fillRect/>
          </a:stretch>
        </p:blipFill>
        <p:spPr>
          <a:xfrm>
            <a:off x="8411260" y="2315260"/>
            <a:ext cx="261518" cy="261518"/>
          </a:xfrm>
          <a:prstGeom prst="rect">
            <a:avLst/>
          </a:prstGeom>
        </p:spPr>
      </p:pic>
      <p:sp>
        <p:nvSpPr>
          <p:cNvPr id="39" name="Card title"/>
          <p:cNvSpPr txBox="1"/>
          <p:nvPr/>
        </p:nvSpPr>
        <p:spPr>
          <a:xfrm>
            <a:off x="8930640" y="2167128"/>
            <a:ext cx="2691384" cy="566928"/>
          </a:xfrm>
          <a:prstGeom prst="rect">
            <a:avLst/>
          </a:prstGeom>
          <a:noFill/>
        </p:spPr>
        <p:txBody>
          <a:bodyPr wrap="square" lIns="0" tIns="0" rIns="0" bIns="0" anchor="ctr">
            <a:spAutoFit/>
          </a:bodyPr>
          <a:lstStyle/>
          <a:p>
            <a:pPr algn="l"/>
            <a:r>
              <a:rPr sz="1300" b="1" i="0">
                <a:solidFill>
                  <a:srgbClr val="094542"/>
                </a:solidFill>
              </a:rPr>
              <a:t>Other resources (Including Human Resources)</a:t>
            </a:r>
          </a:p>
        </p:txBody>
      </p:sp>
      <p:sp>
        <p:nvSpPr>
          <p:cNvPr id="40" name="Divider"/>
          <p:cNvSpPr/>
          <p:nvPr/>
        </p:nvSpPr>
        <p:spPr>
          <a:xfrm>
            <a:off x="8308847" y="2880360"/>
            <a:ext cx="3240024" cy="18288"/>
          </a:xfrm>
          <a:prstGeom prst="rect">
            <a:avLst/>
          </a:prstGeom>
          <a:solidFill>
            <a:srgbClr val="D3E6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Bullets"/>
          <p:cNvSpPr txBox="1"/>
          <p:nvPr/>
        </p:nvSpPr>
        <p:spPr>
          <a:xfrm>
            <a:off x="685800" y="3063240"/>
            <a:ext cx="3148584" cy="2926080"/>
          </a:xfrm>
          <a:prstGeom prst="rect">
            <a:avLst/>
          </a:prstGeom>
          <a:noFill/>
        </p:spPr>
        <p:txBody>
          <a:bodyPr wrap="square" lIns="0" tIns="0" rIns="0" bIns="0">
            <a:spAutoFit/>
          </a:bodyPr>
          <a:lstStyle/>
          <a:p>
            <a:pPr marL="182880" indent="-182880">
              <a:spcAft>
                <a:spcPts val="900"/>
              </a:spcAft>
              <a:buClr>
                <a:srgbClr val="026855"/>
              </a:buClr>
              <a:buChar char="•"/>
            </a:pPr>
            <a:r>
              <a:rPr sz="1400" b="0" i="0">
                <a:solidFill>
                  <a:srgbClr val="0E2A2F"/>
                </a:solidFill>
              </a:rPr>
              <a:t>Laptops for building the prototype</a:t>
            </a:r>
          </a:p>
          <a:p>
            <a:pPr marL="182880" indent="-182880">
              <a:spcAft>
                <a:spcPts val="900"/>
              </a:spcAft>
              <a:buClr>
                <a:srgbClr val="026855"/>
              </a:buClr>
              <a:buChar char="•"/>
            </a:pPr>
            <a:r>
              <a:rPr sz="1400" b="0" i="0">
                <a:solidFill>
                  <a:srgbClr val="0E2A2F"/>
                </a:solidFill>
              </a:rPr>
              <a:t>A cloud server (GPU optional) to train the graph model</a:t>
            </a:r>
          </a:p>
          <a:p>
            <a:pPr marL="182880" indent="-182880">
              <a:spcAft>
                <a:spcPts val="900"/>
              </a:spcAft>
              <a:buClr>
                <a:srgbClr val="026855"/>
              </a:buClr>
              <a:buChar char="•"/>
            </a:pPr>
            <a:r>
              <a:rPr sz="1400" b="0" i="0">
                <a:solidFill>
                  <a:srgbClr val="0E2A2F"/>
                </a:solidFill>
              </a:rPr>
              <a:t>In real use: one server at each bank for local training, plus one secure shared hub</a:t>
            </a:r>
          </a:p>
        </p:txBody>
      </p:sp>
      <p:sp>
        <p:nvSpPr>
          <p:cNvPr id="42" name="Chip"/>
          <p:cNvSpPr/>
          <p:nvPr/>
        </p:nvSpPr>
        <p:spPr>
          <a:xfrm>
            <a:off x="4492752" y="3063240"/>
            <a:ext cx="1528572" cy="347472"/>
          </a:xfrm>
          <a:prstGeom prst="roundRect">
            <a:avLst>
              <a:gd name="adj" fmla="val 50000"/>
            </a:avLst>
          </a:prstGeom>
          <a:solidFill>
            <a:srgbClr val="F3F8F5"/>
          </a:solidFill>
          <a:ln w="12700">
            <a:solidFill>
              <a:srgbClr val="4FA278"/>
            </a:solidFill>
          </a:ln>
          <a:effectLst/>
        </p:spPr>
        <p:style>
          <a:lnRef idx="1">
            <a:schemeClr val="accent1"/>
          </a:lnRef>
          <a:fillRef idx="3">
            <a:schemeClr val="accent1"/>
          </a:fillRef>
          <a:effectRef idx="2">
            <a:schemeClr val="accent1"/>
          </a:effectRef>
          <a:fontRef idx="minor">
            <a:schemeClr val="lt1"/>
          </a:fontRef>
        </p:style>
        <p:txBody>
          <a:bodyPr lIns="36576" rIns="36576" rtlCol="0" anchor="ctr"/>
          <a:lstStyle/>
          <a:p>
            <a:pPr algn="ctr"/>
            <a:r>
              <a:rPr sz="1100" b="1" i="0">
                <a:solidFill>
                  <a:srgbClr val="094542"/>
                </a:solidFill>
              </a:rPr>
              <a:t>Python</a:t>
            </a:r>
          </a:p>
        </p:txBody>
      </p:sp>
      <p:sp>
        <p:nvSpPr>
          <p:cNvPr id="43" name="Chip"/>
          <p:cNvSpPr/>
          <p:nvPr/>
        </p:nvSpPr>
        <p:spPr>
          <a:xfrm>
            <a:off x="6185916" y="3063240"/>
            <a:ext cx="1528572" cy="347472"/>
          </a:xfrm>
          <a:prstGeom prst="roundRect">
            <a:avLst>
              <a:gd name="adj" fmla="val 50000"/>
            </a:avLst>
          </a:prstGeom>
          <a:solidFill>
            <a:srgbClr val="F3F8F5"/>
          </a:solidFill>
          <a:ln w="12700">
            <a:solidFill>
              <a:srgbClr val="4FA278"/>
            </a:solidFill>
          </a:ln>
          <a:effectLst/>
        </p:spPr>
        <p:style>
          <a:lnRef idx="1">
            <a:schemeClr val="accent1"/>
          </a:lnRef>
          <a:fillRef idx="3">
            <a:schemeClr val="accent1"/>
          </a:fillRef>
          <a:effectRef idx="2">
            <a:schemeClr val="accent1"/>
          </a:effectRef>
          <a:fontRef idx="minor">
            <a:schemeClr val="lt1"/>
          </a:fontRef>
        </p:style>
        <p:txBody>
          <a:bodyPr lIns="36576" rIns="36576" rtlCol="0" anchor="ctr"/>
          <a:lstStyle/>
          <a:p>
            <a:pPr algn="ctr"/>
            <a:r>
              <a:rPr sz="1100" b="1" i="0">
                <a:solidFill>
                  <a:srgbClr val="094542"/>
                </a:solidFill>
              </a:rPr>
              <a:t>PyTorch Geometric</a:t>
            </a:r>
          </a:p>
        </p:txBody>
      </p:sp>
      <p:sp>
        <p:nvSpPr>
          <p:cNvPr id="44" name="Chip"/>
          <p:cNvSpPr/>
          <p:nvPr/>
        </p:nvSpPr>
        <p:spPr>
          <a:xfrm>
            <a:off x="4492752" y="3520440"/>
            <a:ext cx="1528572" cy="347472"/>
          </a:xfrm>
          <a:prstGeom prst="roundRect">
            <a:avLst>
              <a:gd name="adj" fmla="val 50000"/>
            </a:avLst>
          </a:prstGeom>
          <a:solidFill>
            <a:srgbClr val="F3F8F5"/>
          </a:solidFill>
          <a:ln w="12700">
            <a:solidFill>
              <a:srgbClr val="4FA278"/>
            </a:solidFill>
          </a:ln>
          <a:effectLst/>
        </p:spPr>
        <p:style>
          <a:lnRef idx="1">
            <a:schemeClr val="accent1"/>
          </a:lnRef>
          <a:fillRef idx="3">
            <a:schemeClr val="accent1"/>
          </a:fillRef>
          <a:effectRef idx="2">
            <a:schemeClr val="accent1"/>
          </a:effectRef>
          <a:fontRef idx="minor">
            <a:schemeClr val="lt1"/>
          </a:fontRef>
        </p:style>
        <p:txBody>
          <a:bodyPr lIns="36576" rIns="36576" rtlCol="0" anchor="ctr"/>
          <a:lstStyle/>
          <a:p>
            <a:pPr algn="ctr"/>
            <a:r>
              <a:rPr sz="1100" b="1" i="0">
                <a:solidFill>
                  <a:srgbClr val="094542"/>
                </a:solidFill>
              </a:rPr>
              <a:t>NetworkX</a:t>
            </a:r>
          </a:p>
        </p:txBody>
      </p:sp>
      <p:sp>
        <p:nvSpPr>
          <p:cNvPr id="45" name="Chip"/>
          <p:cNvSpPr/>
          <p:nvPr/>
        </p:nvSpPr>
        <p:spPr>
          <a:xfrm>
            <a:off x="6185916" y="3520440"/>
            <a:ext cx="1528572" cy="347472"/>
          </a:xfrm>
          <a:prstGeom prst="roundRect">
            <a:avLst>
              <a:gd name="adj" fmla="val 50000"/>
            </a:avLst>
          </a:prstGeom>
          <a:solidFill>
            <a:srgbClr val="F3F8F5"/>
          </a:solidFill>
          <a:ln w="12700">
            <a:solidFill>
              <a:srgbClr val="4FA278"/>
            </a:solidFill>
          </a:ln>
          <a:effectLst/>
        </p:spPr>
        <p:style>
          <a:lnRef idx="1">
            <a:schemeClr val="accent1"/>
          </a:lnRef>
          <a:fillRef idx="3">
            <a:schemeClr val="accent1"/>
          </a:fillRef>
          <a:effectRef idx="2">
            <a:schemeClr val="accent1"/>
          </a:effectRef>
          <a:fontRef idx="minor">
            <a:schemeClr val="lt1"/>
          </a:fontRef>
        </p:style>
        <p:txBody>
          <a:bodyPr lIns="36576" rIns="36576" rtlCol="0" anchor="ctr"/>
          <a:lstStyle/>
          <a:p>
            <a:pPr algn="ctr"/>
            <a:r>
              <a:rPr sz="1100" b="1" i="0">
                <a:solidFill>
                  <a:srgbClr val="094542"/>
                </a:solidFill>
              </a:rPr>
              <a:t>Graph database</a:t>
            </a:r>
          </a:p>
        </p:txBody>
      </p:sp>
      <p:sp>
        <p:nvSpPr>
          <p:cNvPr id="46" name="Chip"/>
          <p:cNvSpPr/>
          <p:nvPr/>
        </p:nvSpPr>
        <p:spPr>
          <a:xfrm>
            <a:off x="4492752" y="3977639"/>
            <a:ext cx="1528572" cy="347472"/>
          </a:xfrm>
          <a:prstGeom prst="roundRect">
            <a:avLst>
              <a:gd name="adj" fmla="val 50000"/>
            </a:avLst>
          </a:prstGeom>
          <a:solidFill>
            <a:srgbClr val="F3F8F5"/>
          </a:solidFill>
          <a:ln w="12700">
            <a:solidFill>
              <a:srgbClr val="4FA278"/>
            </a:solidFill>
          </a:ln>
          <a:effectLst/>
        </p:spPr>
        <p:style>
          <a:lnRef idx="1">
            <a:schemeClr val="accent1"/>
          </a:lnRef>
          <a:fillRef idx="3">
            <a:schemeClr val="accent1"/>
          </a:fillRef>
          <a:effectRef idx="2">
            <a:schemeClr val="accent1"/>
          </a:effectRef>
          <a:fontRef idx="minor">
            <a:schemeClr val="lt1"/>
          </a:fontRef>
        </p:style>
        <p:txBody>
          <a:bodyPr lIns="36576" rIns="36576" rtlCol="0" anchor="ctr"/>
          <a:lstStyle/>
          <a:p>
            <a:pPr algn="ctr"/>
            <a:r>
              <a:rPr sz="1100" b="1" i="0">
                <a:solidFill>
                  <a:srgbClr val="094542"/>
                </a:solidFill>
              </a:rPr>
              <a:t>Flower (federated)</a:t>
            </a:r>
          </a:p>
        </p:txBody>
      </p:sp>
      <p:sp>
        <p:nvSpPr>
          <p:cNvPr id="47" name="Chip"/>
          <p:cNvSpPr/>
          <p:nvPr/>
        </p:nvSpPr>
        <p:spPr>
          <a:xfrm>
            <a:off x="6185916" y="3977639"/>
            <a:ext cx="1528572" cy="347472"/>
          </a:xfrm>
          <a:prstGeom prst="roundRect">
            <a:avLst>
              <a:gd name="adj" fmla="val 50000"/>
            </a:avLst>
          </a:prstGeom>
          <a:solidFill>
            <a:srgbClr val="F3F8F5"/>
          </a:solidFill>
          <a:ln w="12700">
            <a:solidFill>
              <a:srgbClr val="4FA278"/>
            </a:solidFill>
          </a:ln>
          <a:effectLst/>
        </p:spPr>
        <p:style>
          <a:lnRef idx="1">
            <a:schemeClr val="accent1"/>
          </a:lnRef>
          <a:fillRef idx="3">
            <a:schemeClr val="accent1"/>
          </a:fillRef>
          <a:effectRef idx="2">
            <a:schemeClr val="accent1"/>
          </a:effectRef>
          <a:fontRef idx="minor">
            <a:schemeClr val="lt1"/>
          </a:fontRef>
        </p:style>
        <p:txBody>
          <a:bodyPr lIns="36576" rIns="36576" rtlCol="0" anchor="ctr"/>
          <a:lstStyle/>
          <a:p>
            <a:pPr algn="ctr"/>
            <a:r>
              <a:rPr sz="1100" b="1" i="0">
                <a:solidFill>
                  <a:srgbClr val="094542"/>
                </a:solidFill>
              </a:rPr>
              <a:t>FastAPI</a:t>
            </a:r>
          </a:p>
        </p:txBody>
      </p:sp>
      <p:sp>
        <p:nvSpPr>
          <p:cNvPr id="48" name="Chip"/>
          <p:cNvSpPr/>
          <p:nvPr/>
        </p:nvSpPr>
        <p:spPr>
          <a:xfrm>
            <a:off x="4492752" y="4434840"/>
            <a:ext cx="1528572" cy="347472"/>
          </a:xfrm>
          <a:prstGeom prst="roundRect">
            <a:avLst>
              <a:gd name="adj" fmla="val 50000"/>
            </a:avLst>
          </a:prstGeom>
          <a:solidFill>
            <a:srgbClr val="F3F8F5"/>
          </a:solidFill>
          <a:ln w="12700">
            <a:solidFill>
              <a:srgbClr val="4FA278"/>
            </a:solidFill>
          </a:ln>
          <a:effectLst/>
        </p:spPr>
        <p:style>
          <a:lnRef idx="1">
            <a:schemeClr val="accent1"/>
          </a:lnRef>
          <a:fillRef idx="3">
            <a:schemeClr val="accent1"/>
          </a:fillRef>
          <a:effectRef idx="2">
            <a:schemeClr val="accent1"/>
          </a:effectRef>
          <a:fontRef idx="minor">
            <a:schemeClr val="lt1"/>
          </a:fontRef>
        </p:style>
        <p:txBody>
          <a:bodyPr lIns="36576" rIns="36576" rtlCol="0" anchor="ctr"/>
          <a:lstStyle/>
          <a:p>
            <a:pPr algn="ctr"/>
            <a:r>
              <a:rPr sz="1100" b="1" i="0">
                <a:solidFill>
                  <a:srgbClr val="094542"/>
                </a:solidFill>
              </a:rPr>
              <a:t>React dashboard</a:t>
            </a:r>
          </a:p>
        </p:txBody>
      </p:sp>
      <p:sp>
        <p:nvSpPr>
          <p:cNvPr id="49" name="Chip"/>
          <p:cNvSpPr/>
          <p:nvPr/>
        </p:nvSpPr>
        <p:spPr>
          <a:xfrm>
            <a:off x="6185916" y="4434840"/>
            <a:ext cx="1528572" cy="347472"/>
          </a:xfrm>
          <a:prstGeom prst="roundRect">
            <a:avLst>
              <a:gd name="adj" fmla="val 50000"/>
            </a:avLst>
          </a:prstGeom>
          <a:solidFill>
            <a:srgbClr val="F3F8F5"/>
          </a:solidFill>
          <a:ln w="12700">
            <a:solidFill>
              <a:srgbClr val="4FA278"/>
            </a:solidFill>
          </a:ln>
          <a:effectLst/>
        </p:spPr>
        <p:style>
          <a:lnRef idx="1">
            <a:schemeClr val="accent1"/>
          </a:lnRef>
          <a:fillRef idx="3">
            <a:schemeClr val="accent1"/>
          </a:fillRef>
          <a:effectRef idx="2">
            <a:schemeClr val="accent1"/>
          </a:effectRef>
          <a:fontRef idx="minor">
            <a:schemeClr val="lt1"/>
          </a:fontRef>
        </p:style>
        <p:txBody>
          <a:bodyPr lIns="36576" rIns="36576" rtlCol="0" anchor="ctr"/>
          <a:lstStyle/>
          <a:p>
            <a:pPr algn="ctr"/>
            <a:r>
              <a:rPr sz="1100" b="1" i="0">
                <a:solidFill>
                  <a:srgbClr val="094542"/>
                </a:solidFill>
              </a:rPr>
              <a:t>Hashing / masking</a:t>
            </a:r>
          </a:p>
        </p:txBody>
      </p:sp>
      <p:sp>
        <p:nvSpPr>
          <p:cNvPr id="50" name="Note"/>
          <p:cNvSpPr txBox="1"/>
          <p:nvPr/>
        </p:nvSpPr>
        <p:spPr>
          <a:xfrm>
            <a:off x="4520184" y="4937760"/>
            <a:ext cx="3148584" cy="640080"/>
          </a:xfrm>
          <a:prstGeom prst="rect">
            <a:avLst/>
          </a:prstGeom>
          <a:noFill/>
        </p:spPr>
        <p:txBody>
          <a:bodyPr wrap="square" lIns="0" tIns="0" rIns="0" bIns="0" anchor="t">
            <a:spAutoFit/>
          </a:bodyPr>
          <a:lstStyle/>
          <a:p>
            <a:pPr algn="l"/>
            <a:r>
              <a:rPr sz="1200" b="0" i="1">
                <a:solidFill>
                  <a:srgbClr val="5B6F6B"/>
                </a:solidFill>
              </a:rPr>
              <a:t>Hashing means banks share only masked account IDs, never raw customer data.</a:t>
            </a:r>
          </a:p>
        </p:txBody>
      </p:sp>
      <p:sp>
        <p:nvSpPr>
          <p:cNvPr id="51" name="Bullets"/>
          <p:cNvSpPr txBox="1"/>
          <p:nvPr/>
        </p:nvSpPr>
        <p:spPr>
          <a:xfrm>
            <a:off x="8354568" y="3063240"/>
            <a:ext cx="3148584" cy="3017520"/>
          </a:xfrm>
          <a:prstGeom prst="rect">
            <a:avLst/>
          </a:prstGeom>
          <a:noFill/>
        </p:spPr>
        <p:txBody>
          <a:bodyPr wrap="square" lIns="0" tIns="0" rIns="0" bIns="0">
            <a:spAutoFit/>
          </a:bodyPr>
          <a:lstStyle/>
          <a:p>
            <a:pPr marL="182880" indent="-182880">
              <a:spcAft>
                <a:spcPts val="700"/>
              </a:spcAft>
              <a:buClr>
                <a:srgbClr val="026855"/>
              </a:buClr>
              <a:buChar char="•"/>
            </a:pPr>
            <a:r>
              <a:rPr sz="1300" b="0" i="0">
                <a:solidFill>
                  <a:srgbClr val="0E2A2F"/>
                </a:solidFill>
              </a:rPr>
              <a:t>Our team of 4: build and slides, research, architecture, presenter</a:t>
            </a:r>
          </a:p>
          <a:p>
            <a:pPr marL="182880" indent="-182880">
              <a:spcAft>
                <a:spcPts val="700"/>
              </a:spcAft>
              <a:buClr>
                <a:srgbClr val="026855"/>
              </a:buClr>
              <a:buChar char="•"/>
            </a:pPr>
            <a:r>
              <a:rPr sz="1300" b="0" i="0">
                <a:solidFill>
                  <a:srgbClr val="0E2A2F"/>
                </a:solidFill>
              </a:rPr>
              <a:t>Synthetic transaction data, since real bank data cannot be shared</a:t>
            </a:r>
          </a:p>
          <a:p>
            <a:pPr marL="182880" indent="-182880">
              <a:spcAft>
                <a:spcPts val="700"/>
              </a:spcAft>
              <a:buClr>
                <a:srgbClr val="026855"/>
              </a:buClr>
              <a:buChar char="•"/>
            </a:pPr>
            <a:r>
              <a:rPr sz="1300" b="0" i="0">
                <a:solidFill>
                  <a:srgbClr val="0E2A2F"/>
                </a:solidFill>
              </a:rPr>
              <a:t>RBI and NPCI rules, the DPDP Act and I4C documents</a:t>
            </a:r>
          </a:p>
          <a:p>
            <a:pPr marL="182880" indent="-182880">
              <a:spcAft>
                <a:spcPts val="700"/>
              </a:spcAft>
              <a:buClr>
                <a:srgbClr val="026855"/>
              </a:buClr>
              <a:buChar char="•"/>
            </a:pPr>
            <a:r>
              <a:rPr sz="1300" b="0" i="0">
                <a:solidFill>
                  <a:srgbClr val="0E2A2F"/>
                </a:solidFill>
              </a:rPr>
              <a:t>A mentor or bank fraud officer to check our assumptions</a:t>
            </a:r>
          </a:p>
          <a:p>
            <a:pPr marL="182880" indent="-182880">
              <a:spcAft>
                <a:spcPts val="700"/>
              </a:spcAft>
              <a:buClr>
                <a:srgbClr val="026855"/>
              </a:buClr>
              <a:buChar char="•"/>
            </a:pPr>
            <a:r>
              <a:rPr sz="1300" b="0" i="0">
                <a:solidFill>
                  <a:srgbClr val="0E2A2F"/>
                </a:solidFill>
              </a:rPr>
              <a:t>Later: NPCI, a few banks and I4C as partners</a:t>
            </a:r>
          </a:p>
        </p:txBody>
      </p:sp>
      <p:sp>
        <p:nvSpPr>
          <p:cNvPr id="52" name="Takeaway strip"/>
          <p:cNvSpPr/>
          <p:nvPr/>
        </p:nvSpPr>
        <p:spPr>
          <a:xfrm>
            <a:off x="457200" y="5806440"/>
            <a:ext cx="11274552" cy="384048"/>
          </a:xfrm>
          <a:prstGeom prst="roundRect">
            <a:avLst>
              <a:gd name="adj" fmla="val 20000"/>
            </a:avLst>
          </a:prstGeom>
          <a:solidFill>
            <a:srgbClr val="094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akeaway"/>
          <p:cNvSpPr txBox="1"/>
          <p:nvPr/>
        </p:nvSpPr>
        <p:spPr>
          <a:xfrm>
            <a:off x="731520" y="5806440"/>
            <a:ext cx="10725912" cy="384048"/>
          </a:xfrm>
          <a:prstGeom prst="rect">
            <a:avLst/>
          </a:prstGeom>
          <a:noFill/>
        </p:spPr>
        <p:txBody>
          <a:bodyPr wrap="square" lIns="0" tIns="0" rIns="0" bIns="0" anchor="ctr">
            <a:spAutoFit/>
          </a:bodyPr>
          <a:lstStyle/>
          <a:p>
            <a:pPr algn="l"/>
            <a:r>
              <a:rPr sz="1300" b="1" i="0">
                <a:solidFill>
                  <a:srgbClr val="FFFFFF"/>
                </a:solidFill>
              </a:rPr>
              <a:t>The prototype can be built with free, open source tools and a laptop.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Dark Mod Devs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
        <p:nvSpPr>
          <p:cNvPr id="26" name="Section title"/>
          <p:cNvSpPr txBox="1"/>
          <p:nvPr/>
        </p:nvSpPr>
        <p:spPr>
          <a:xfrm>
            <a:off x="457200" y="1965960"/>
            <a:ext cx="7315200" cy="274320"/>
          </a:xfrm>
          <a:prstGeom prst="rect">
            <a:avLst/>
          </a:prstGeom>
          <a:noFill/>
        </p:spPr>
        <p:txBody>
          <a:bodyPr wrap="square" lIns="0" tIns="0" rIns="0" bIns="0" anchor="t">
            <a:spAutoFit/>
          </a:bodyPr>
          <a:lstStyle/>
          <a:p>
            <a:pPr algn="l"/>
            <a:r>
              <a:rPr sz="1400" b="1" i="0">
                <a:solidFill>
                  <a:srgbClr val="094542"/>
                </a:solidFill>
              </a:rPr>
              <a:t>What your team intends to do</a:t>
            </a:r>
          </a:p>
        </p:txBody>
      </p:sp>
      <p:sp>
        <p:nvSpPr>
          <p:cNvPr id="27" name="Card"/>
          <p:cNvSpPr/>
          <p:nvPr/>
        </p:nvSpPr>
        <p:spPr>
          <a:xfrm>
            <a:off x="457200" y="2331720"/>
            <a:ext cx="1645920" cy="2011680"/>
          </a:xfrm>
          <a:prstGeom prst="roundRect">
            <a:avLst>
              <a:gd name="adj" fmla="val 4000"/>
            </a:avLst>
          </a:prstGeom>
          <a:solidFill>
            <a:srgbClr val="F3F8F5"/>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con circle"/>
          <p:cNvSpPr/>
          <p:nvPr/>
        </p:nvSpPr>
        <p:spPr>
          <a:xfrm>
            <a:off x="566928" y="2441448"/>
            <a:ext cx="365760" cy="365760"/>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Icon FaUniversity" descr="FaUniversity_w.png"/>
          <p:cNvPicPr>
            <a:picLocks noChangeAspect="1"/>
          </p:cNvPicPr>
          <p:nvPr/>
        </p:nvPicPr>
        <p:blipFill>
          <a:blip r:embed="rId5"/>
          <a:stretch>
            <a:fillRect/>
          </a:stretch>
        </p:blipFill>
        <p:spPr>
          <a:xfrm>
            <a:off x="658368" y="2532888"/>
            <a:ext cx="182880" cy="182880"/>
          </a:xfrm>
          <a:prstGeom prst="rect">
            <a:avLst/>
          </a:prstGeom>
        </p:spPr>
      </p:pic>
      <p:sp>
        <p:nvSpPr>
          <p:cNvPr id="30" name="Bank"/>
          <p:cNvSpPr txBox="1"/>
          <p:nvPr/>
        </p:nvSpPr>
        <p:spPr>
          <a:xfrm>
            <a:off x="1024128" y="2441448"/>
            <a:ext cx="1005840" cy="365760"/>
          </a:xfrm>
          <a:prstGeom prst="rect">
            <a:avLst/>
          </a:prstGeom>
          <a:noFill/>
        </p:spPr>
        <p:txBody>
          <a:bodyPr wrap="square" lIns="0" tIns="0" rIns="0" bIns="0" anchor="ctr">
            <a:spAutoFit/>
          </a:bodyPr>
          <a:lstStyle/>
          <a:p>
            <a:pPr algn="l"/>
            <a:r>
              <a:rPr sz="1200" b="1" i="0">
                <a:solidFill>
                  <a:srgbClr val="0E2A2F"/>
                </a:solidFill>
              </a:rPr>
              <a:t>Bank A</a:t>
            </a:r>
          </a:p>
        </p:txBody>
      </p:sp>
      <p:sp>
        <p:nvSpPr>
          <p:cNvPr id="31" name="Icon circle"/>
          <p:cNvSpPr/>
          <p:nvPr/>
        </p:nvSpPr>
        <p:spPr>
          <a:xfrm>
            <a:off x="566928" y="2916936"/>
            <a:ext cx="365760" cy="365760"/>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Icon FaUniversity" descr="FaUniversity_w.png"/>
          <p:cNvPicPr>
            <a:picLocks noChangeAspect="1"/>
          </p:cNvPicPr>
          <p:nvPr/>
        </p:nvPicPr>
        <p:blipFill>
          <a:blip r:embed="rId5"/>
          <a:stretch>
            <a:fillRect/>
          </a:stretch>
        </p:blipFill>
        <p:spPr>
          <a:xfrm>
            <a:off x="658368" y="3008376"/>
            <a:ext cx="182880" cy="182880"/>
          </a:xfrm>
          <a:prstGeom prst="rect">
            <a:avLst/>
          </a:prstGeom>
        </p:spPr>
      </p:pic>
      <p:sp>
        <p:nvSpPr>
          <p:cNvPr id="33" name="Bank"/>
          <p:cNvSpPr txBox="1"/>
          <p:nvPr/>
        </p:nvSpPr>
        <p:spPr>
          <a:xfrm>
            <a:off x="1024128" y="2916936"/>
            <a:ext cx="1005840" cy="365760"/>
          </a:xfrm>
          <a:prstGeom prst="rect">
            <a:avLst/>
          </a:prstGeom>
          <a:noFill/>
        </p:spPr>
        <p:txBody>
          <a:bodyPr wrap="square" lIns="0" tIns="0" rIns="0" bIns="0" anchor="ctr">
            <a:spAutoFit/>
          </a:bodyPr>
          <a:lstStyle/>
          <a:p>
            <a:pPr algn="l"/>
            <a:r>
              <a:rPr sz="1200" b="1" i="0">
                <a:solidFill>
                  <a:srgbClr val="0E2A2F"/>
                </a:solidFill>
              </a:rPr>
              <a:t>Bank B</a:t>
            </a:r>
          </a:p>
        </p:txBody>
      </p:sp>
      <p:sp>
        <p:nvSpPr>
          <p:cNvPr id="34" name="Icon circle"/>
          <p:cNvSpPr/>
          <p:nvPr/>
        </p:nvSpPr>
        <p:spPr>
          <a:xfrm>
            <a:off x="566928" y="3392424"/>
            <a:ext cx="365760" cy="365760"/>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Icon FaUniversity" descr="FaUniversity_w.png"/>
          <p:cNvPicPr>
            <a:picLocks noChangeAspect="1"/>
          </p:cNvPicPr>
          <p:nvPr/>
        </p:nvPicPr>
        <p:blipFill>
          <a:blip r:embed="rId5"/>
          <a:stretch>
            <a:fillRect/>
          </a:stretch>
        </p:blipFill>
        <p:spPr>
          <a:xfrm>
            <a:off x="658368" y="3483864"/>
            <a:ext cx="182880" cy="182880"/>
          </a:xfrm>
          <a:prstGeom prst="rect">
            <a:avLst/>
          </a:prstGeom>
        </p:spPr>
      </p:pic>
      <p:sp>
        <p:nvSpPr>
          <p:cNvPr id="36" name="Bank"/>
          <p:cNvSpPr txBox="1"/>
          <p:nvPr/>
        </p:nvSpPr>
        <p:spPr>
          <a:xfrm>
            <a:off x="1024128" y="3392424"/>
            <a:ext cx="1005840" cy="365760"/>
          </a:xfrm>
          <a:prstGeom prst="rect">
            <a:avLst/>
          </a:prstGeom>
          <a:noFill/>
        </p:spPr>
        <p:txBody>
          <a:bodyPr wrap="square" lIns="0" tIns="0" rIns="0" bIns="0" anchor="ctr">
            <a:spAutoFit/>
          </a:bodyPr>
          <a:lstStyle/>
          <a:p>
            <a:pPr algn="l"/>
            <a:r>
              <a:rPr sz="1200" b="1" i="0">
                <a:solidFill>
                  <a:srgbClr val="0E2A2F"/>
                </a:solidFill>
              </a:rPr>
              <a:t>Bank C</a:t>
            </a:r>
          </a:p>
        </p:txBody>
      </p:sp>
      <p:sp>
        <p:nvSpPr>
          <p:cNvPr id="37" name="Caption"/>
          <p:cNvSpPr txBox="1"/>
          <p:nvPr/>
        </p:nvSpPr>
        <p:spPr>
          <a:xfrm>
            <a:off x="566928" y="3886200"/>
            <a:ext cx="1463040" cy="411480"/>
          </a:xfrm>
          <a:prstGeom prst="rect">
            <a:avLst/>
          </a:prstGeom>
          <a:noFill/>
        </p:spPr>
        <p:txBody>
          <a:bodyPr wrap="square" lIns="0" tIns="0" rIns="0" bIns="0" anchor="t">
            <a:spAutoFit/>
          </a:bodyPr>
          <a:lstStyle/>
          <a:p>
            <a:pPr algn="l"/>
            <a:r>
              <a:rPr sz="1000" b="0" i="1">
                <a:solidFill>
                  <a:srgbClr val="5B6F6B"/>
                </a:solidFill>
              </a:rPr>
              <a:t>Each bank keeps its own data</a:t>
            </a:r>
          </a:p>
        </p:txBody>
      </p:sp>
      <p:sp>
        <p:nvSpPr>
          <p:cNvPr id="38" name="Arrow"/>
          <p:cNvSpPr/>
          <p:nvPr/>
        </p:nvSpPr>
        <p:spPr>
          <a:xfrm>
            <a:off x="2148840" y="3200400"/>
            <a:ext cx="292608" cy="274320"/>
          </a:xfrm>
          <a:prstGeom prst="rightArrow">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Layer card"/>
          <p:cNvSpPr/>
          <p:nvPr/>
        </p:nvSpPr>
        <p:spPr>
          <a:xfrm>
            <a:off x="2514600" y="2331720"/>
            <a:ext cx="2423160" cy="2011680"/>
          </a:xfrm>
          <a:prstGeom prst="roundRect">
            <a:avLst>
              <a:gd name="adj" fmla="val 4000"/>
            </a:avLst>
          </a:prstGeom>
          <a:solidFill>
            <a:srgbClr val="FFFFFF"/>
          </a:solidFill>
          <a:ln w="12700">
            <a:solidFill>
              <a:srgbClr val="7AC1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Icon circle"/>
          <p:cNvSpPr/>
          <p:nvPr/>
        </p:nvSpPr>
        <p:spPr>
          <a:xfrm>
            <a:off x="2651760" y="2468879"/>
            <a:ext cx="457200" cy="457200"/>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Icon FaLock" descr="FaLock_w.png"/>
          <p:cNvPicPr>
            <a:picLocks noChangeAspect="1"/>
          </p:cNvPicPr>
          <p:nvPr/>
        </p:nvPicPr>
        <p:blipFill>
          <a:blip r:embed="rId6"/>
          <a:stretch>
            <a:fillRect/>
          </a:stretch>
        </p:blipFill>
        <p:spPr>
          <a:xfrm>
            <a:off x="2761488" y="2578608"/>
            <a:ext cx="237744" cy="237744"/>
          </a:xfrm>
          <a:prstGeom prst="rect">
            <a:avLst/>
          </a:prstGeom>
        </p:spPr>
      </p:pic>
      <p:sp>
        <p:nvSpPr>
          <p:cNvPr id="42" name="Layer title"/>
          <p:cNvSpPr txBox="1"/>
          <p:nvPr/>
        </p:nvSpPr>
        <p:spPr>
          <a:xfrm>
            <a:off x="3227832" y="2441448"/>
            <a:ext cx="1600200" cy="512064"/>
          </a:xfrm>
          <a:prstGeom prst="rect">
            <a:avLst/>
          </a:prstGeom>
          <a:noFill/>
        </p:spPr>
        <p:txBody>
          <a:bodyPr wrap="square" lIns="0" tIns="0" rIns="0" bIns="0" anchor="ctr">
            <a:spAutoFit/>
          </a:bodyPr>
          <a:lstStyle/>
          <a:p>
            <a:pPr algn="l"/>
            <a:r>
              <a:rPr sz="1200" b="1" i="0">
                <a:solidFill>
                  <a:srgbClr val="094542"/>
                </a:solidFill>
              </a:rPr>
              <a:t>ChainBreak</a:t>
            </a:r>
          </a:p>
          <a:p>
            <a:pPr algn="l"/>
            <a:r>
              <a:rPr sz="1200" b="1" i="0">
                <a:solidFill>
                  <a:srgbClr val="094542"/>
                </a:solidFill>
              </a:rPr>
              <a:t>shared signal layer</a:t>
            </a:r>
          </a:p>
        </p:txBody>
      </p:sp>
      <p:sp>
        <p:nvSpPr>
          <p:cNvPr id="43" name="Bullets"/>
          <p:cNvSpPr txBox="1"/>
          <p:nvPr/>
        </p:nvSpPr>
        <p:spPr>
          <a:xfrm>
            <a:off x="2697480" y="3108960"/>
            <a:ext cx="2103120" cy="1188720"/>
          </a:xfrm>
          <a:prstGeom prst="rect">
            <a:avLst/>
          </a:prstGeom>
          <a:noFill/>
        </p:spPr>
        <p:txBody>
          <a:bodyPr wrap="square" lIns="0" tIns="0" rIns="0" bIns="0">
            <a:spAutoFit/>
          </a:bodyPr>
          <a:lstStyle/>
          <a:p>
            <a:pPr marL="182880" indent="-182880">
              <a:spcAft>
                <a:spcPts val="500"/>
              </a:spcAft>
              <a:buClr>
                <a:srgbClr val="026855"/>
              </a:buClr>
              <a:buChar char="•"/>
            </a:pPr>
            <a:r>
              <a:rPr sz="1200" b="0" i="0">
                <a:solidFill>
                  <a:srgbClr val="0E2A2F"/>
                </a:solidFill>
              </a:rPr>
              <a:t>Banks share only masked IDs and risk scores</a:t>
            </a:r>
          </a:p>
          <a:p>
            <a:pPr marL="182880" indent="-182880">
              <a:spcAft>
                <a:spcPts val="500"/>
              </a:spcAft>
              <a:buClr>
                <a:srgbClr val="026855"/>
              </a:buClr>
              <a:buChar char="•"/>
            </a:pPr>
            <a:r>
              <a:rPr sz="1200" b="0" i="0">
                <a:solidFill>
                  <a:srgbClr val="0E2A2F"/>
                </a:solidFill>
              </a:rPr>
              <a:t>No customer data leaves a bank</a:t>
            </a:r>
          </a:p>
        </p:txBody>
      </p:sp>
      <p:sp>
        <p:nvSpPr>
          <p:cNvPr id="44" name="Arrow"/>
          <p:cNvSpPr/>
          <p:nvPr/>
        </p:nvSpPr>
        <p:spPr>
          <a:xfrm>
            <a:off x="4983480" y="3200400"/>
            <a:ext cx="292608" cy="274320"/>
          </a:xfrm>
          <a:prstGeom prst="rightArrow">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Model card"/>
          <p:cNvSpPr/>
          <p:nvPr/>
        </p:nvSpPr>
        <p:spPr>
          <a:xfrm>
            <a:off x="5349240" y="2331720"/>
            <a:ext cx="2651760" cy="2011680"/>
          </a:xfrm>
          <a:prstGeom prst="roundRect">
            <a:avLst>
              <a:gd name="adj" fmla="val 4000"/>
            </a:avLst>
          </a:prstGeom>
          <a:solidFill>
            <a:srgbClr val="FFFFFF"/>
          </a:solidFill>
          <a:ln w="12700">
            <a:solidFill>
              <a:srgbClr val="7AC1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Icon circle"/>
          <p:cNvSpPr/>
          <p:nvPr/>
        </p:nvSpPr>
        <p:spPr>
          <a:xfrm>
            <a:off x="5486400" y="2468879"/>
            <a:ext cx="457200" cy="457200"/>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Icon FaProjectDiagram" descr="FaProjectDiagram_w.png"/>
          <p:cNvPicPr>
            <a:picLocks noChangeAspect="1"/>
          </p:cNvPicPr>
          <p:nvPr/>
        </p:nvPicPr>
        <p:blipFill>
          <a:blip r:embed="rId7"/>
          <a:stretch>
            <a:fillRect/>
          </a:stretch>
        </p:blipFill>
        <p:spPr>
          <a:xfrm>
            <a:off x="5596128" y="2578608"/>
            <a:ext cx="237744" cy="237744"/>
          </a:xfrm>
          <a:prstGeom prst="rect">
            <a:avLst/>
          </a:prstGeom>
        </p:spPr>
      </p:pic>
      <p:sp>
        <p:nvSpPr>
          <p:cNvPr id="48" name="Model title"/>
          <p:cNvSpPr txBox="1"/>
          <p:nvPr/>
        </p:nvSpPr>
        <p:spPr>
          <a:xfrm>
            <a:off x="6062472" y="2441448"/>
            <a:ext cx="1828800" cy="512064"/>
          </a:xfrm>
          <a:prstGeom prst="rect">
            <a:avLst/>
          </a:prstGeom>
          <a:noFill/>
        </p:spPr>
        <p:txBody>
          <a:bodyPr wrap="square" lIns="0" tIns="0" rIns="0" bIns="0" anchor="ctr">
            <a:spAutoFit/>
          </a:bodyPr>
          <a:lstStyle/>
          <a:p>
            <a:pPr algn="l"/>
            <a:r>
              <a:rPr sz="1200" b="1" i="0">
                <a:solidFill>
                  <a:srgbClr val="094542"/>
                </a:solidFill>
              </a:rPr>
              <a:t>Graph model</a:t>
            </a:r>
          </a:p>
          <a:p>
            <a:pPr algn="l"/>
            <a:r>
              <a:rPr sz="1200" b="1" i="0">
                <a:solidFill>
                  <a:srgbClr val="094542"/>
                </a:solidFill>
              </a:rPr>
              <a:t>finds mule chains</a:t>
            </a:r>
          </a:p>
        </p:txBody>
      </p:sp>
      <p:sp>
        <p:nvSpPr>
          <p:cNvPr id="49" name="Bullets"/>
          <p:cNvSpPr txBox="1"/>
          <p:nvPr/>
        </p:nvSpPr>
        <p:spPr>
          <a:xfrm>
            <a:off x="5532120" y="3108960"/>
            <a:ext cx="2331720" cy="1188720"/>
          </a:xfrm>
          <a:prstGeom prst="rect">
            <a:avLst/>
          </a:prstGeom>
          <a:noFill/>
        </p:spPr>
        <p:txBody>
          <a:bodyPr wrap="square" lIns="0" tIns="0" rIns="0" bIns="0">
            <a:spAutoFit/>
          </a:bodyPr>
          <a:lstStyle/>
          <a:p>
            <a:pPr marL="182880" indent="-182880">
              <a:spcAft>
                <a:spcPts val="500"/>
              </a:spcAft>
              <a:buClr>
                <a:srgbClr val="026855"/>
              </a:buClr>
              <a:buChar char="•"/>
            </a:pPr>
            <a:r>
              <a:rPr sz="1100" b="0" i="0">
                <a:solidFill>
                  <a:srgbClr val="0E2A2F"/>
                </a:solidFill>
              </a:rPr>
              <a:t>Spots fast pass-through, many-to-one, one-to-many and new accounts</a:t>
            </a:r>
          </a:p>
          <a:p>
            <a:pPr marL="182880" indent="-182880">
              <a:spcAft>
                <a:spcPts val="500"/>
              </a:spcAft>
              <a:buClr>
                <a:srgbClr val="026855"/>
              </a:buClr>
              <a:buChar char="•"/>
            </a:pPr>
            <a:r>
              <a:rPr sz="1100" b="0" i="0">
                <a:solidFill>
                  <a:srgbClr val="0E2A2F"/>
                </a:solidFill>
              </a:rPr>
              <a:t>Federated learning: banks improve it without sharing raw data</a:t>
            </a:r>
          </a:p>
        </p:txBody>
      </p:sp>
      <p:sp>
        <p:nvSpPr>
          <p:cNvPr id="50" name="Arrow"/>
          <p:cNvSpPr/>
          <p:nvPr/>
        </p:nvSpPr>
        <p:spPr>
          <a:xfrm>
            <a:off x="8046720" y="3200400"/>
            <a:ext cx="292608" cy="274320"/>
          </a:xfrm>
          <a:prstGeom prst="rightArrow">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sponse card"/>
          <p:cNvSpPr/>
          <p:nvPr/>
        </p:nvSpPr>
        <p:spPr>
          <a:xfrm>
            <a:off x="8412480" y="2331720"/>
            <a:ext cx="3319272" cy="2011680"/>
          </a:xfrm>
          <a:prstGeom prst="roundRect">
            <a:avLst>
              <a:gd name="adj" fmla="val 4000"/>
            </a:avLst>
          </a:prstGeom>
          <a:solidFill>
            <a:srgbClr val="F3F8F5"/>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Ladder title"/>
          <p:cNvSpPr txBox="1"/>
          <p:nvPr/>
        </p:nvSpPr>
        <p:spPr>
          <a:xfrm>
            <a:off x="8595359" y="2423160"/>
            <a:ext cx="2953512" cy="228600"/>
          </a:xfrm>
          <a:prstGeom prst="rect">
            <a:avLst/>
          </a:prstGeom>
          <a:noFill/>
        </p:spPr>
        <p:txBody>
          <a:bodyPr wrap="square" lIns="0" tIns="0" rIns="0" bIns="0" anchor="t">
            <a:spAutoFit/>
          </a:bodyPr>
          <a:lstStyle/>
          <a:p>
            <a:pPr algn="l"/>
            <a:r>
              <a:rPr sz="1200" b="1" i="0">
                <a:solidFill>
                  <a:srgbClr val="094542"/>
                </a:solidFill>
              </a:rPr>
              <a:t>Response in steps</a:t>
            </a:r>
          </a:p>
        </p:txBody>
      </p:sp>
      <p:sp>
        <p:nvSpPr>
          <p:cNvPr id="53" name="Icon circle"/>
          <p:cNvSpPr/>
          <p:nvPr/>
        </p:nvSpPr>
        <p:spPr>
          <a:xfrm>
            <a:off x="8577072" y="2743200"/>
            <a:ext cx="310896" cy="310896"/>
          </a:xfrm>
          <a:prstGeom prst="ellipse">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4" name="Icon FaBell" descr="FaBell_w.png"/>
          <p:cNvPicPr>
            <a:picLocks noChangeAspect="1"/>
          </p:cNvPicPr>
          <p:nvPr/>
        </p:nvPicPr>
        <p:blipFill>
          <a:blip r:embed="rId8"/>
          <a:stretch>
            <a:fillRect/>
          </a:stretch>
        </p:blipFill>
        <p:spPr>
          <a:xfrm>
            <a:off x="8645469" y="2811597"/>
            <a:ext cx="174101" cy="174101"/>
          </a:xfrm>
          <a:prstGeom prst="rect">
            <a:avLst/>
          </a:prstGeom>
        </p:spPr>
      </p:pic>
      <p:sp>
        <p:nvSpPr>
          <p:cNvPr id="55" name="Ladder step"/>
          <p:cNvSpPr txBox="1"/>
          <p:nvPr/>
        </p:nvSpPr>
        <p:spPr>
          <a:xfrm>
            <a:off x="8979407" y="2743200"/>
            <a:ext cx="2633472" cy="310896"/>
          </a:xfrm>
          <a:prstGeom prst="rect">
            <a:avLst/>
          </a:prstGeom>
          <a:noFill/>
        </p:spPr>
        <p:txBody>
          <a:bodyPr wrap="square" lIns="0" tIns="0" rIns="0" bIns="0" anchor="ctr">
            <a:spAutoFit/>
          </a:bodyPr>
          <a:lstStyle/>
          <a:p>
            <a:pPr algn="l"/>
            <a:r>
              <a:rPr sz="1100" b="0" i="0">
                <a:solidFill>
                  <a:srgbClr val="0E2A2F"/>
                </a:solidFill>
              </a:rPr>
              <a:t>1.  Alert</a:t>
            </a:r>
          </a:p>
        </p:txBody>
      </p:sp>
      <p:sp>
        <p:nvSpPr>
          <p:cNvPr id="56" name="Icon circle"/>
          <p:cNvSpPr/>
          <p:nvPr/>
        </p:nvSpPr>
        <p:spPr>
          <a:xfrm>
            <a:off x="8577072" y="3136392"/>
            <a:ext cx="310896" cy="310896"/>
          </a:xfrm>
          <a:prstGeom prst="ellipse">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7" name="Icon FaHourglassHalf" descr="FaHourglassHalf_w.png"/>
          <p:cNvPicPr>
            <a:picLocks noChangeAspect="1"/>
          </p:cNvPicPr>
          <p:nvPr/>
        </p:nvPicPr>
        <p:blipFill>
          <a:blip r:embed="rId9"/>
          <a:stretch>
            <a:fillRect/>
          </a:stretch>
        </p:blipFill>
        <p:spPr>
          <a:xfrm>
            <a:off x="8645469" y="3204789"/>
            <a:ext cx="174101" cy="174101"/>
          </a:xfrm>
          <a:prstGeom prst="rect">
            <a:avLst/>
          </a:prstGeom>
        </p:spPr>
      </p:pic>
      <p:sp>
        <p:nvSpPr>
          <p:cNvPr id="58" name="Ladder step"/>
          <p:cNvSpPr txBox="1"/>
          <p:nvPr/>
        </p:nvSpPr>
        <p:spPr>
          <a:xfrm>
            <a:off x="8979407" y="3136392"/>
            <a:ext cx="2633472" cy="310896"/>
          </a:xfrm>
          <a:prstGeom prst="rect">
            <a:avLst/>
          </a:prstGeom>
          <a:noFill/>
        </p:spPr>
        <p:txBody>
          <a:bodyPr wrap="square" lIns="0" tIns="0" rIns="0" bIns="0" anchor="ctr">
            <a:spAutoFit/>
          </a:bodyPr>
          <a:lstStyle/>
          <a:p>
            <a:pPr algn="l"/>
            <a:r>
              <a:rPr sz="1100" b="0" i="0">
                <a:solidFill>
                  <a:srgbClr val="0E2A2F"/>
                </a:solidFill>
              </a:rPr>
              <a:t>2.  Small delay or extra confirmation</a:t>
            </a:r>
          </a:p>
        </p:txBody>
      </p:sp>
      <p:sp>
        <p:nvSpPr>
          <p:cNvPr id="59" name="Icon circle"/>
          <p:cNvSpPr/>
          <p:nvPr/>
        </p:nvSpPr>
        <p:spPr>
          <a:xfrm>
            <a:off x="8577072" y="3529584"/>
            <a:ext cx="310896" cy="310896"/>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0" name="Icon FaHandPaper" descr="FaHandPaper_w.png"/>
          <p:cNvPicPr>
            <a:picLocks noChangeAspect="1"/>
          </p:cNvPicPr>
          <p:nvPr/>
        </p:nvPicPr>
        <p:blipFill>
          <a:blip r:embed="rId10"/>
          <a:stretch>
            <a:fillRect/>
          </a:stretch>
        </p:blipFill>
        <p:spPr>
          <a:xfrm>
            <a:off x="8645469" y="3597981"/>
            <a:ext cx="174101" cy="174101"/>
          </a:xfrm>
          <a:prstGeom prst="rect">
            <a:avLst/>
          </a:prstGeom>
        </p:spPr>
      </p:pic>
      <p:sp>
        <p:nvSpPr>
          <p:cNvPr id="61" name="Ladder step"/>
          <p:cNvSpPr txBox="1"/>
          <p:nvPr/>
        </p:nvSpPr>
        <p:spPr>
          <a:xfrm>
            <a:off x="8979407" y="3529584"/>
            <a:ext cx="2633472" cy="310896"/>
          </a:xfrm>
          <a:prstGeom prst="rect">
            <a:avLst/>
          </a:prstGeom>
          <a:noFill/>
        </p:spPr>
        <p:txBody>
          <a:bodyPr wrap="square" lIns="0" tIns="0" rIns="0" bIns="0" anchor="ctr">
            <a:spAutoFit/>
          </a:bodyPr>
          <a:lstStyle/>
          <a:p>
            <a:pPr algn="l"/>
            <a:r>
              <a:rPr sz="1100" b="0" i="0">
                <a:solidFill>
                  <a:srgbClr val="0E2A2F"/>
                </a:solidFill>
              </a:rPr>
              <a:t>3.  Short hold on that chain only</a:t>
            </a:r>
          </a:p>
        </p:txBody>
      </p:sp>
      <p:sp>
        <p:nvSpPr>
          <p:cNvPr id="62" name="Icon circle"/>
          <p:cNvSpPr/>
          <p:nvPr/>
        </p:nvSpPr>
        <p:spPr>
          <a:xfrm>
            <a:off x="8577072" y="3922776"/>
            <a:ext cx="310896" cy="310896"/>
          </a:xfrm>
          <a:prstGeom prst="ellipse">
            <a:avLst/>
          </a:prstGeom>
          <a:solidFill>
            <a:srgbClr val="094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3" name="Icon FaUserCheck" descr="FaUserCheck_w.png"/>
          <p:cNvPicPr>
            <a:picLocks noChangeAspect="1"/>
          </p:cNvPicPr>
          <p:nvPr/>
        </p:nvPicPr>
        <p:blipFill>
          <a:blip r:embed="rId11"/>
          <a:stretch>
            <a:fillRect/>
          </a:stretch>
        </p:blipFill>
        <p:spPr>
          <a:xfrm>
            <a:off x="8645469" y="3991173"/>
            <a:ext cx="174101" cy="174101"/>
          </a:xfrm>
          <a:prstGeom prst="rect">
            <a:avLst/>
          </a:prstGeom>
        </p:spPr>
      </p:pic>
      <p:sp>
        <p:nvSpPr>
          <p:cNvPr id="64" name="Ladder step"/>
          <p:cNvSpPr txBox="1"/>
          <p:nvPr/>
        </p:nvSpPr>
        <p:spPr>
          <a:xfrm>
            <a:off x="8979407" y="3922776"/>
            <a:ext cx="2633472" cy="310896"/>
          </a:xfrm>
          <a:prstGeom prst="rect">
            <a:avLst/>
          </a:prstGeom>
          <a:noFill/>
        </p:spPr>
        <p:txBody>
          <a:bodyPr wrap="square" lIns="0" tIns="0" rIns="0" bIns="0" anchor="ctr">
            <a:spAutoFit/>
          </a:bodyPr>
          <a:lstStyle/>
          <a:p>
            <a:pPr algn="l"/>
            <a:r>
              <a:rPr sz="1100" b="0" i="0">
                <a:solidFill>
                  <a:srgbClr val="0E2A2F"/>
                </a:solidFill>
              </a:rPr>
              <a:t>4.  Human review + auto-release timer</a:t>
            </a:r>
          </a:p>
        </p:txBody>
      </p:sp>
      <p:sp>
        <p:nvSpPr>
          <p:cNvPr id="65" name="Card"/>
          <p:cNvSpPr/>
          <p:nvPr/>
        </p:nvSpPr>
        <p:spPr>
          <a:xfrm>
            <a:off x="457200" y="4526280"/>
            <a:ext cx="5522976" cy="1600200"/>
          </a:xfrm>
          <a:prstGeom prst="roundRect">
            <a:avLst>
              <a:gd name="adj" fmla="val 4000"/>
            </a:avLst>
          </a:prstGeom>
          <a:solidFill>
            <a:srgbClr val="FFFFFF"/>
          </a:solidFill>
          <a:ln w="12700">
            <a:solidFill>
              <a:srgbClr val="D3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Icon circle"/>
          <p:cNvSpPr/>
          <p:nvPr/>
        </p:nvSpPr>
        <p:spPr>
          <a:xfrm>
            <a:off x="594360" y="4636008"/>
            <a:ext cx="411480" cy="411480"/>
          </a:xfrm>
          <a:prstGeom prst="ellipse">
            <a:avLst/>
          </a:prstGeom>
          <a:solidFill>
            <a:srgbClr val="0268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Icon FaChartLine" descr="FaChartLine_w.png"/>
          <p:cNvPicPr>
            <a:picLocks noChangeAspect="1"/>
          </p:cNvPicPr>
          <p:nvPr/>
        </p:nvPicPr>
        <p:blipFill>
          <a:blip r:embed="rId12"/>
          <a:stretch>
            <a:fillRect/>
          </a:stretch>
        </p:blipFill>
        <p:spPr>
          <a:xfrm>
            <a:off x="697230" y="4738878"/>
            <a:ext cx="205740" cy="205740"/>
          </a:xfrm>
          <a:prstGeom prst="rect">
            <a:avLst/>
          </a:prstGeom>
        </p:spPr>
      </p:pic>
      <p:sp>
        <p:nvSpPr>
          <p:cNvPr id="68" name="Card title"/>
          <p:cNvSpPr txBox="1"/>
          <p:nvPr/>
        </p:nvSpPr>
        <p:spPr>
          <a:xfrm>
            <a:off x="1143000" y="4636008"/>
            <a:ext cx="4700016" cy="411480"/>
          </a:xfrm>
          <a:prstGeom prst="rect">
            <a:avLst/>
          </a:prstGeom>
          <a:noFill/>
        </p:spPr>
        <p:txBody>
          <a:bodyPr wrap="square" lIns="0" tIns="0" rIns="0" bIns="0" anchor="ctr">
            <a:spAutoFit/>
          </a:bodyPr>
          <a:lstStyle/>
          <a:p>
            <a:pPr algn="l"/>
            <a:r>
              <a:rPr sz="1400" b="1" i="0">
                <a:solidFill>
                  <a:srgbClr val="094542"/>
                </a:solidFill>
              </a:rPr>
              <a:t>What you want to improve</a:t>
            </a:r>
          </a:p>
        </p:txBody>
      </p:sp>
      <p:sp>
        <p:nvSpPr>
          <p:cNvPr id="69" name="Bullets"/>
          <p:cNvSpPr txBox="1"/>
          <p:nvPr/>
        </p:nvSpPr>
        <p:spPr>
          <a:xfrm>
            <a:off x="685800" y="5166360"/>
            <a:ext cx="5065776" cy="914400"/>
          </a:xfrm>
          <a:prstGeom prst="rect">
            <a:avLst/>
          </a:prstGeom>
          <a:noFill/>
        </p:spPr>
        <p:txBody>
          <a:bodyPr wrap="square" lIns="0" tIns="0" rIns="0" bIns="0">
            <a:spAutoFit/>
          </a:bodyPr>
          <a:lstStyle/>
          <a:p>
            <a:pPr marL="182880" indent="-182880">
              <a:spcAft>
                <a:spcPts val="200"/>
              </a:spcAft>
              <a:buClr>
                <a:srgbClr val="026855"/>
              </a:buClr>
              <a:buChar char="•"/>
            </a:pPr>
            <a:r>
              <a:rPr sz="1200" b="1" i="0">
                <a:solidFill>
                  <a:srgbClr val="0E2A2F"/>
                </a:solidFill>
              </a:rPr>
              <a:t>Speed: </a:t>
            </a:r>
            <a:r>
              <a:rPr sz="1200" b="0" i="0">
                <a:solidFill>
                  <a:srgbClr val="0E2A2F"/>
                </a:solidFill>
              </a:rPr>
              <a:t>catch the chain in minutes, before cash-out</a:t>
            </a:r>
          </a:p>
          <a:p>
            <a:pPr marL="182880" indent="-182880">
              <a:spcAft>
                <a:spcPts val="200"/>
              </a:spcAft>
              <a:buClr>
                <a:srgbClr val="026855"/>
              </a:buClr>
              <a:buChar char="•"/>
            </a:pPr>
            <a:r>
              <a:rPr sz="1200" b="1" i="0">
                <a:solidFill>
                  <a:srgbClr val="0E2A2F"/>
                </a:solidFill>
              </a:rPr>
              <a:t>Accuracy: </a:t>
            </a:r>
            <a:r>
              <a:rPr sz="1200" b="0" i="0">
                <a:solidFill>
                  <a:srgbClr val="0E2A2F"/>
                </a:solidFill>
              </a:rPr>
              <a:t>fewer wrong holds on honest users</a:t>
            </a:r>
          </a:p>
          <a:p>
            <a:pPr marL="182880" indent="-182880">
              <a:spcAft>
                <a:spcPts val="200"/>
              </a:spcAft>
              <a:buClr>
                <a:srgbClr val="026855"/>
              </a:buClr>
              <a:buChar char="•"/>
            </a:pPr>
            <a:r>
              <a:rPr sz="1200" b="1" i="0">
                <a:solidFill>
                  <a:srgbClr val="0E2A2F"/>
                </a:solidFill>
              </a:rPr>
              <a:t>Visibility: </a:t>
            </a:r>
            <a:r>
              <a:rPr sz="1200" b="0" i="0">
                <a:solidFill>
                  <a:srgbClr val="0E2A2F"/>
                </a:solidFill>
              </a:rPr>
              <a:t>one view of the chain across banks</a:t>
            </a:r>
          </a:p>
          <a:p>
            <a:pPr marL="182880" indent="-182880">
              <a:spcAft>
                <a:spcPts val="200"/>
              </a:spcAft>
              <a:buClr>
                <a:srgbClr val="026855"/>
              </a:buClr>
              <a:buChar char="•"/>
            </a:pPr>
            <a:r>
              <a:rPr sz="1200" b="1" i="0">
                <a:solidFill>
                  <a:srgbClr val="0E2A2F"/>
                </a:solidFill>
              </a:rPr>
              <a:t>Recovery: </a:t>
            </a:r>
            <a:r>
              <a:rPr sz="1200" b="0" i="0">
                <a:solidFill>
                  <a:srgbClr val="0E2A2F"/>
                </a:solidFill>
              </a:rPr>
              <a:t>more of the victim's money stopped midway</a:t>
            </a:r>
          </a:p>
        </p:txBody>
      </p:sp>
      <p:sp>
        <p:nvSpPr>
          <p:cNvPr id="70" name="Card"/>
          <p:cNvSpPr/>
          <p:nvPr/>
        </p:nvSpPr>
        <p:spPr>
          <a:xfrm>
            <a:off x="6208776" y="4526280"/>
            <a:ext cx="5522976" cy="1600200"/>
          </a:xfrm>
          <a:prstGeom prst="roundRect">
            <a:avLst>
              <a:gd name="adj" fmla="val 4000"/>
            </a:avLst>
          </a:prstGeom>
          <a:solidFill>
            <a:srgbClr val="FFFFFF"/>
          </a:solidFill>
          <a:ln w="12700">
            <a:solidFill>
              <a:srgbClr val="7AC1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Icon circle"/>
          <p:cNvSpPr/>
          <p:nvPr/>
        </p:nvSpPr>
        <p:spPr>
          <a:xfrm>
            <a:off x="6345936" y="4636008"/>
            <a:ext cx="411480" cy="411480"/>
          </a:xfrm>
          <a:prstGeom prst="ellipse">
            <a:avLst/>
          </a:prstGeom>
          <a:solidFill>
            <a:srgbClr val="4FA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2" name="Icon FaBullseye" descr="FaBullseye_w.png"/>
          <p:cNvPicPr>
            <a:picLocks noChangeAspect="1"/>
          </p:cNvPicPr>
          <p:nvPr/>
        </p:nvPicPr>
        <p:blipFill>
          <a:blip r:embed="rId13"/>
          <a:stretch>
            <a:fillRect/>
          </a:stretch>
        </p:blipFill>
        <p:spPr>
          <a:xfrm>
            <a:off x="6448806" y="4738878"/>
            <a:ext cx="205740" cy="205740"/>
          </a:xfrm>
          <a:prstGeom prst="rect">
            <a:avLst/>
          </a:prstGeom>
        </p:spPr>
      </p:pic>
      <p:sp>
        <p:nvSpPr>
          <p:cNvPr id="73" name="Card title"/>
          <p:cNvSpPr txBox="1"/>
          <p:nvPr/>
        </p:nvSpPr>
        <p:spPr>
          <a:xfrm>
            <a:off x="6894576" y="4581144"/>
            <a:ext cx="4700016" cy="512064"/>
          </a:xfrm>
          <a:prstGeom prst="rect">
            <a:avLst/>
          </a:prstGeom>
          <a:noFill/>
        </p:spPr>
        <p:txBody>
          <a:bodyPr wrap="square" lIns="0" tIns="0" rIns="0" bIns="0" anchor="ctr">
            <a:spAutoFit/>
          </a:bodyPr>
          <a:lstStyle/>
          <a:p>
            <a:pPr algn="l"/>
            <a:r>
              <a:rPr sz="1300" b="1" i="0">
                <a:solidFill>
                  <a:srgbClr val="094542"/>
                </a:solidFill>
              </a:rPr>
              <a:t>What successful improvement should you achieve</a:t>
            </a:r>
          </a:p>
          <a:p>
            <a:pPr algn="l"/>
            <a:r>
              <a:rPr sz="1300" b="1" i="0">
                <a:solidFill>
                  <a:srgbClr val="094542"/>
                </a:solidFill>
              </a:rPr>
              <a:t>Our targets on simulated data</a:t>
            </a:r>
          </a:p>
        </p:txBody>
      </p:sp>
      <p:sp>
        <p:nvSpPr>
          <p:cNvPr id="74" name="Bullets"/>
          <p:cNvSpPr txBox="1"/>
          <p:nvPr/>
        </p:nvSpPr>
        <p:spPr>
          <a:xfrm>
            <a:off x="6437376" y="5166360"/>
            <a:ext cx="5065776" cy="914400"/>
          </a:xfrm>
          <a:prstGeom prst="rect">
            <a:avLst/>
          </a:prstGeom>
          <a:noFill/>
        </p:spPr>
        <p:txBody>
          <a:bodyPr wrap="square" lIns="0" tIns="0" rIns="0" bIns="0">
            <a:spAutoFit/>
          </a:bodyPr>
          <a:lstStyle/>
          <a:p>
            <a:pPr marL="182880" indent="-182880">
              <a:spcAft>
                <a:spcPts val="200"/>
              </a:spcAft>
              <a:buClr>
                <a:srgbClr val="4FA278"/>
              </a:buClr>
              <a:buChar char="•"/>
            </a:pPr>
            <a:r>
              <a:rPr sz="1200" b="0" i="0">
                <a:solidFill>
                  <a:srgbClr val="0E2A2F"/>
                </a:solidFill>
              </a:rPr>
              <a:t>Catch most mule chains before the last withdrawal</a:t>
            </a:r>
          </a:p>
          <a:p>
            <a:pPr marL="182880" indent="-182880">
              <a:spcAft>
                <a:spcPts val="200"/>
              </a:spcAft>
              <a:buClr>
                <a:srgbClr val="4FA278"/>
              </a:buClr>
              <a:buChar char="•"/>
            </a:pPr>
            <a:r>
              <a:rPr sz="1200" b="0" i="0">
                <a:solidFill>
                  <a:srgbClr val="0E2A2F"/>
                </a:solidFill>
              </a:rPr>
              <a:t>Place a hold within about a minute of detection</a:t>
            </a:r>
          </a:p>
          <a:p>
            <a:pPr marL="182880" indent="-182880">
              <a:spcAft>
                <a:spcPts val="200"/>
              </a:spcAft>
              <a:buClr>
                <a:srgbClr val="4FA278"/>
              </a:buClr>
              <a:buChar char="•"/>
            </a:pPr>
            <a:r>
              <a:rPr sz="1200" b="0" i="0">
                <a:solidFill>
                  <a:srgbClr val="0E2A2F"/>
                </a:solidFill>
              </a:rPr>
              <a:t>Keep wrong holds on genuine accounts very low</a:t>
            </a:r>
          </a:p>
          <a:p>
            <a:pPr marL="182880" indent="-182880">
              <a:spcAft>
                <a:spcPts val="200"/>
              </a:spcAft>
              <a:buClr>
                <a:srgbClr val="4FA278"/>
              </a:buClr>
              <a:buChar char="•"/>
            </a:pPr>
            <a:r>
              <a:rPr sz="1200" b="0" i="0">
                <a:solidFill>
                  <a:srgbClr val="0E2A2F"/>
                </a:solidFill>
              </a:rPr>
              <a:t>Release every hold automatically unless a reviewer confirms 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Dark Mod Devs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extLst>
              <p:ext uri="{D42A27DB-BD31-4B8C-83A1-F6EECF244321}">
                <p14:modId xmlns:p14="http://schemas.microsoft.com/office/powerpoint/2010/main" val="3766899804"/>
              </p:ext>
            </p:extLst>
          </p:nvPr>
        </p:nvGraphicFramePr>
        <p:xfrm>
          <a:off x="548640" y="2194560"/>
          <a:ext cx="11094415" cy="3474720"/>
        </p:xfrm>
        <a:graphic>
          <a:graphicData uri="http://schemas.openxmlformats.org/drawingml/2006/table">
            <a:tbl>
              <a:tblPr/>
              <a:tblGrid>
                <a:gridCol w="30175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Team Member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Responsibility in Execution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400" b="1" dirty="0" err="1">
                          <a:solidFill>
                            <a:schemeClr val="tx1"/>
                          </a:solidFill>
                          <a:latin typeface="Calibri" pitchFamily="34" charset="0"/>
                          <a:ea typeface="Calibri" pitchFamily="34" charset="-122"/>
                          <a:cs typeface="Calibri" pitchFamily="34" charset="-120"/>
                        </a:rPr>
                        <a:t>Thiruvenkadesuwaran</a:t>
                      </a:r>
                      <a:r>
                        <a:rPr lang="en-US" sz="1400" b="1" dirty="0">
                          <a:solidFill>
                            <a:schemeClr val="tx1"/>
                          </a:solidFill>
                          <a:latin typeface="Calibri" pitchFamily="34" charset="0"/>
                          <a:ea typeface="Calibri" pitchFamily="34" charset="-122"/>
                          <a:cs typeface="Calibri" pitchFamily="34" charset="-120"/>
                        </a:rPr>
                        <a:t> S</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5"/>
                          </a:solidFill>
                          <a:latin typeface="Calibri" pitchFamily="34" charset="0"/>
                          <a:ea typeface="Calibri" pitchFamily="34" charset="-122"/>
                          <a:cs typeface="Calibri" pitchFamily="34" charset="-120"/>
                        </a:rPr>
                        <a:t>Team leader</a:t>
                      </a:r>
                      <a:endParaRPr lang="en-US" sz="1400" b="1"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400" dirty="0"/>
                        <a:t>Designs the slides and builds the prototype or </a:t>
                      </a:r>
                      <a:r>
                        <a:rPr lang="en-IN" sz="1400" dirty="0" err="1"/>
                        <a:t>mockup</a:t>
                      </a:r>
                      <a:r>
                        <a:rPr lang="en-IN" sz="1400" dirty="0"/>
                        <a:t> of the idea</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K Prajit Raj</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400" dirty="0"/>
                        <a:t>Research Lead</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400" dirty="0"/>
                        <a:t>Collects real fraud data and facts, and studies RBI/NPCI rules and existing solutions</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Nithin V</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400" dirty="0"/>
                        <a:t>Solution &amp; Architecture Lead</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400" dirty="0"/>
                        <a:t>Works out how the cross-bank detection and holds would work, and makes the diagrams</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400" b="1" dirty="0">
                          <a:latin typeface="Calibri" charset="0"/>
                          <a:ea typeface="Calibri" charset="0"/>
                          <a:cs typeface="Calibri" charset="0"/>
                        </a:rPr>
                        <a:t>Senthil Yohan N</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400" dirty="0"/>
                        <a:t>Presenter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400" dirty="0"/>
                        <a:t>Writes the pitch story, practises it and delivers it on the day</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1753</Words>
  <Application>Microsoft Office PowerPoint</Application>
  <PresentationFormat>Widescreen</PresentationFormat>
  <Paragraphs>215</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Bernard MT Condensed</vt:lpstr>
      <vt:lpstr>Calibri</vt:lpstr>
      <vt:lpstr>Cambria</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Thiru venkadesuwaran</cp:lastModifiedBy>
  <cp:revision>8</cp:revision>
  <dcterms:created xsi:type="dcterms:W3CDTF">2026-10-07T15:27:40Z</dcterms:created>
  <dcterms:modified xsi:type="dcterms:W3CDTF">2026-10-08T14:35:12Z</dcterms:modified>
</cp:coreProperties>
</file>